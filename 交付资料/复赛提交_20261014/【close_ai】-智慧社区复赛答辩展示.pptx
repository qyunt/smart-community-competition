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  <p:sldId id="269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B4"/>
    <a:srgbClr val="D8EAF1"/>
    <a:srgbClr val="00B0B4"/>
    <a:srgbClr val="095BCD"/>
    <a:srgbClr val="070948"/>
    <a:srgbClr val="0E0C4B"/>
    <a:srgbClr val="000050"/>
    <a:srgbClr val="0000A0"/>
    <a:srgbClr val="0101C3"/>
    <a:srgbClr val="0335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3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.xml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3.png"/><Relationship Id="rId7" Type="http://schemas.openxmlformats.org/officeDocument/2006/relationships/image" Target="../media/image22.jpeg"/><Relationship Id="rId6" Type="http://schemas.openxmlformats.org/officeDocument/2006/relationships/image" Target="../media/image1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0.jpeg"/><Relationship Id="rId2" Type="http://schemas.openxmlformats.org/officeDocument/2006/relationships/tags" Target="../tags/tag19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image" Target="../media/image28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6.xml"/><Relationship Id="rId4" Type="http://schemas.openxmlformats.org/officeDocument/2006/relationships/image" Target="../media/image31.png"/><Relationship Id="rId3" Type="http://schemas.openxmlformats.org/officeDocument/2006/relationships/tags" Target="../tags/tag25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jpeg"/><Relationship Id="rId3" Type="http://schemas.openxmlformats.org/officeDocument/2006/relationships/tags" Target="../tags/tag27.xml"/><Relationship Id="rId2" Type="http://schemas.openxmlformats.org/officeDocument/2006/relationships/hyperlink" Target="HTTP" TargetMode="External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exec-fd7e7eeb-3587-4007-895d-3fd50ee69e81"/>
          <p:cNvPicPr>
            <a:picLocks noChangeAspect="1"/>
          </p:cNvPicPr>
          <p:nvPr/>
        </p:nvPicPr>
        <p:blipFill>
          <a:blip r:embed="rId1"/>
          <a:srcRect l="27926" r="7392"/>
          <a:stretch>
            <a:fillRect/>
          </a:stretch>
        </p:blipFill>
        <p:spPr>
          <a:xfrm>
            <a:off x="6097270" y="635"/>
            <a:ext cx="6475730" cy="6858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-633095" y="0"/>
            <a:ext cx="6729730" cy="6858000"/>
            <a:chOff x="-997" y="0"/>
            <a:chExt cx="10598" cy="10800"/>
          </a:xfrm>
          <a:gradFill>
            <a:gsLst>
              <a:gs pos="86000">
                <a:srgbClr val="023355">
                  <a:alpha val="70000"/>
                </a:srgbClr>
              </a:gs>
              <a:gs pos="0">
                <a:srgbClr val="082050">
                  <a:alpha val="100000"/>
                </a:srgbClr>
              </a:gs>
              <a:gs pos="61000">
                <a:srgbClr val="023355">
                  <a:alpha val="100000"/>
                </a:srgbClr>
              </a:gs>
              <a:gs pos="0">
                <a:srgbClr val="0E0C4B"/>
              </a:gs>
              <a:gs pos="100000">
                <a:srgbClr val="070948">
                  <a:alpha val="28000"/>
                </a:srgbClr>
              </a:gs>
            </a:gsLst>
            <a:lin ang="0" scaled="0"/>
          </a:gradFill>
          <a:effectLst/>
        </p:grpSpPr>
        <p:pic>
          <p:nvPicPr>
            <p:cNvPr id="5" name="图片 4" descr="arch_bg"/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 rot="16200000">
              <a:off x="-1098" y="101"/>
              <a:ext cx="10800" cy="10599"/>
            </a:xfrm>
            <a:prstGeom prst="rect">
              <a:avLst/>
            </a:prstGeom>
            <a:grpFill/>
          </p:spPr>
        </p:pic>
        <p:sp>
          <p:nvSpPr>
            <p:cNvPr id="2" name="rect 2"/>
            <p:cNvSpPr/>
            <p:nvPr/>
          </p:nvSpPr>
          <p:spPr>
            <a:xfrm>
              <a:off x="0" y="0"/>
              <a:ext cx="9600" cy="10800"/>
            </a:xfrm>
            <a:prstGeom prst="rect">
              <a:avLst/>
            </a:prstGeom>
            <a:grpFill/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" name="textbox 6"/>
          <p:cNvSpPr/>
          <p:nvPr/>
        </p:nvSpPr>
        <p:spPr>
          <a:xfrm>
            <a:off x="520700" y="734695"/>
            <a:ext cx="4845685" cy="2835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0" kern="0" spc="60" dirty="0">
              <a:solidFill>
                <a:srgbClr val="B9CDEB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rtl="0" eaLnBrk="0">
              <a:lnSpc>
                <a:spcPct val="133000"/>
              </a:lnSpc>
            </a:pPr>
            <a:r>
              <a:rPr sz="1400" kern="0" spc="60" dirty="0">
                <a:solidFill>
                  <a:srgbClr val="B9CDE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第八届全球校园人工智能算法精英大赛</a:t>
            </a:r>
            <a:r>
              <a:rPr lang="en-US" sz="1400" kern="0" spc="60" dirty="0">
                <a:solidFill>
                  <a:srgbClr val="B9CDE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·</a:t>
            </a:r>
            <a:r>
              <a:rPr sz="1400" kern="0" spc="60" dirty="0">
                <a:solidFill>
                  <a:srgbClr val="B9CDE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算法应用赛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970" algn="l" rtl="0" eaLnBrk="0">
              <a:lnSpc>
                <a:spcPct val="133000"/>
              </a:lnSpc>
            </a:pPr>
            <a:r>
              <a:rPr sz="1400" kern="0" spc="20" dirty="0">
                <a:solidFill>
                  <a:srgbClr val="8FB4E4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智慧社区 ·</a:t>
            </a:r>
            <a:r>
              <a:rPr sz="1400" kern="0" spc="30" dirty="0">
                <a:solidFill>
                  <a:srgbClr val="8FB4E4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400" kern="0" spc="20" dirty="0">
                <a:solidFill>
                  <a:srgbClr val="8FB4E4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复赛答辩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87000"/>
              </a:lnSpc>
              <a:spcBef>
                <a:spcPts val="1030"/>
              </a:spcBef>
            </a:pPr>
            <a:r>
              <a:rPr sz="34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智慧社区</a:t>
            </a:r>
            <a:endParaRPr sz="3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785" algn="l" rtl="0" eaLnBrk="0">
              <a:lnSpc>
                <a:spcPct val="87000"/>
              </a:lnSpc>
            </a:pPr>
            <a:r>
              <a:rPr sz="34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自主巡检与视觉识别方案</a:t>
            </a:r>
            <a:endParaRPr sz="3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th 8"/>
          <p:cNvSpPr/>
          <p:nvPr/>
        </p:nvSpPr>
        <p:spPr>
          <a:xfrm>
            <a:off x="533400" y="647700"/>
            <a:ext cx="438911" cy="38100"/>
          </a:xfrm>
          <a:custGeom>
            <a:avLst/>
            <a:gdLst/>
            <a:ahLst/>
            <a:cxnLst/>
            <a:rect l="0" t="0" r="0" b="0"/>
            <a:pathLst>
              <a:path w="691" h="60">
                <a:moveTo>
                  <a:pt x="0" y="0"/>
                </a:moveTo>
                <a:lnTo>
                  <a:pt x="691" y="0"/>
                </a:lnTo>
                <a:lnTo>
                  <a:pt x="691" y="60"/>
                </a:lnTo>
                <a:lnTo>
                  <a:pt x="0" y="6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textbox 10"/>
          <p:cNvSpPr/>
          <p:nvPr/>
        </p:nvSpPr>
        <p:spPr>
          <a:xfrm>
            <a:off x="533408" y="3938716"/>
            <a:ext cx="4572634" cy="588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845"/>
              </a:lnSpc>
            </a:pPr>
            <a:r>
              <a:rPr sz="14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Gazebo</a:t>
            </a:r>
            <a:r>
              <a:rPr sz="1400" kern="0" spc="26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400" kern="0" spc="15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ROS1 仿真平台</a:t>
            </a:r>
            <a:r>
              <a:rPr sz="1400" kern="0" spc="10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  4.2</a:t>
            </a:r>
            <a:r>
              <a:rPr sz="1400" kern="0" spc="16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1400" kern="0" spc="2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sz="1400" kern="0" spc="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</a:t>
            </a:r>
            <a:r>
              <a:rPr sz="1400" kern="0" spc="1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1400" kern="0" spc="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竞赛场地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" algn="l" rtl="0" eaLnBrk="0">
              <a:lnSpc>
                <a:spcPts val="2580"/>
              </a:lnSpc>
            </a:pPr>
            <a:r>
              <a:rPr sz="1400" kern="0" spc="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自主建图 · 多点巡检导航与避障 · 三条视觉</a:t>
            </a:r>
            <a:r>
              <a:rPr sz="1400" kern="0" spc="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识别链路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537145" y="5372794"/>
            <a:ext cx="5052059" cy="46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8000"/>
              </a:lnSpc>
            </a:pPr>
            <a:r>
              <a:rPr sz="14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参赛队伍：【</a:t>
            </a:r>
            <a:r>
              <a:rPr lang="en-US" sz="14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close_ai</a:t>
            </a:r>
            <a:r>
              <a:rPr sz="14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8000"/>
              </a:lnSpc>
              <a:spcBef>
                <a:spcPts val="5"/>
              </a:spcBef>
            </a:pPr>
            <a:r>
              <a:rPr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参赛队员：</a:t>
            </a:r>
            <a:r>
              <a:rPr lang="zh-CN"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戈一舟、</a:t>
            </a:r>
            <a:r>
              <a:rPr lang="zh-CN" altLang="en-US"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马天瑞、刘政润</a:t>
            </a:r>
            <a:r>
              <a:rPr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sz="1200" kern="0" spc="40" dirty="0">
              <a:solidFill>
                <a:srgbClr val="9FBEE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18000"/>
              </a:lnSpc>
              <a:spcBef>
                <a:spcPts val="5"/>
              </a:spcBef>
            </a:pPr>
            <a:r>
              <a:rPr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指导教师：</a:t>
            </a:r>
            <a:r>
              <a:rPr lang="zh-CN"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丁尧、</a:t>
            </a:r>
            <a:r>
              <a:rPr lang="zh-CN" altLang="en-US"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吕尚可</a:t>
            </a:r>
            <a:r>
              <a:rPr sz="1200" kern="0" spc="1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1200" kern="0" spc="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endParaRPr sz="1200" kern="0" spc="0" dirty="0">
              <a:solidFill>
                <a:srgbClr val="9FBEE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18000"/>
              </a:lnSpc>
              <a:spcBef>
                <a:spcPts val="5"/>
              </a:spcBef>
            </a:pPr>
            <a:r>
              <a:rPr sz="1200" kern="0" spc="40" dirty="0">
                <a:solidFill>
                  <a:srgbClr val="7FA6D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en-US" sz="1200" kern="0" spc="40" dirty="0">
                <a:solidFill>
                  <a:srgbClr val="7FA6D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.10</a:t>
            </a:r>
            <a:endParaRPr lang="en-US" sz="1200" kern="0" spc="40" dirty="0">
              <a:solidFill>
                <a:srgbClr val="7FA6D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th 14"/>
          <p:cNvSpPr/>
          <p:nvPr/>
        </p:nvSpPr>
        <p:spPr>
          <a:xfrm>
            <a:off x="524510" y="5302630"/>
            <a:ext cx="5029200" cy="9144"/>
          </a:xfrm>
          <a:custGeom>
            <a:avLst/>
            <a:gdLst/>
            <a:ahLst/>
            <a:cxnLst/>
            <a:rect l="0" t="0" r="0" b="0"/>
            <a:pathLst>
              <a:path w="7920" h="14">
                <a:moveTo>
                  <a:pt x="0" y="0"/>
                </a:moveTo>
                <a:lnTo>
                  <a:pt x="7920" y="0"/>
                </a:lnTo>
                <a:lnTo>
                  <a:pt x="7920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2E5EA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path 16"/>
          <p:cNvSpPr/>
          <p:nvPr/>
        </p:nvSpPr>
        <p:spPr>
          <a:xfrm>
            <a:off x="537210" y="3615435"/>
            <a:ext cx="876300" cy="47244"/>
          </a:xfrm>
          <a:custGeom>
            <a:avLst/>
            <a:gdLst/>
            <a:ahLst/>
            <a:cxnLst/>
            <a:rect l="0" t="0" r="0" b="0"/>
            <a:pathLst>
              <a:path w="1380" h="74">
                <a:moveTo>
                  <a:pt x="0" y="0"/>
                </a:moveTo>
                <a:lnTo>
                  <a:pt x="1380" y="0"/>
                </a:lnTo>
                <a:lnTo>
                  <a:pt x="1380" y="74"/>
                </a:lnTo>
                <a:lnTo>
                  <a:pt x="0" y="74"/>
                </a:lnTo>
                <a:lnTo>
                  <a:pt x="0" y="0"/>
                </a:lnTo>
                <a:close/>
              </a:path>
            </a:pathLst>
          </a:custGeom>
          <a:solidFill>
            <a:srgbClr val="FFC10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8427085" y="331470"/>
            <a:ext cx="3542030" cy="923290"/>
            <a:chOff x="13160" y="522"/>
            <a:chExt cx="5578" cy="145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圆角矩形 10"/>
            <p:cNvSpPr/>
            <p:nvPr/>
          </p:nvSpPr>
          <p:spPr>
            <a:xfrm>
              <a:off x="13160" y="522"/>
              <a:ext cx="5578" cy="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37" y="713"/>
              <a:ext cx="4990" cy="10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ode_bg_dark"/>
          <p:cNvPicPr>
            <a:picLocks noChangeAspect="1"/>
          </p:cNvPicPr>
          <p:nvPr/>
        </p:nvPicPr>
        <p:blipFill>
          <a:blip r:embed="rId1"/>
          <a:srcRect l="979" t="1843" r="71290" b="1759"/>
          <a:stretch>
            <a:fillRect/>
          </a:stretch>
        </p:blipFill>
        <p:spPr>
          <a:xfrm>
            <a:off x="-337820" y="-105410"/>
            <a:ext cx="3614420" cy="706818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60800" y="1460500"/>
            <a:ext cx="7747000" cy="4089400"/>
          </a:xfrm>
          <a:prstGeom prst="rect">
            <a:avLst/>
          </a:prstGeom>
        </p:spPr>
      </p:pic>
      <p:sp>
        <p:nvSpPr>
          <p:cNvPr id="20" name="rect 20"/>
          <p:cNvSpPr/>
          <p:nvPr/>
        </p:nvSpPr>
        <p:spPr>
          <a:xfrm>
            <a:off x="0" y="0"/>
            <a:ext cx="3276600" cy="6858000"/>
          </a:xfrm>
          <a:prstGeom prst="rect">
            <a:avLst/>
          </a:prstGeom>
          <a:solidFill>
            <a:srgbClr val="000050">
              <a:alpha val="76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3860800" y="2889250"/>
          <a:ext cx="7746365" cy="1231900"/>
        </p:xfrm>
        <a:graphic>
          <a:graphicData uri="http://schemas.openxmlformats.org/drawingml/2006/table">
            <a:tbl>
              <a:tblPr/>
              <a:tblGrid>
                <a:gridCol w="1016635"/>
                <a:gridCol w="5732145"/>
                <a:gridCol w="997585"/>
              </a:tblGrid>
              <a:tr h="1231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960" algn="l" rtl="0" eaLnBrk="0">
                        <a:lnSpc>
                          <a:spcPct val="87000"/>
                        </a:lnSpc>
                      </a:pPr>
                      <a:r>
                        <a:rPr sz="1900" b="1" kern="0" spc="1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仿真场地</a:t>
                      </a:r>
                      <a:r>
                        <a:rPr sz="1900" b="1" kern="0" spc="16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900" b="1" kern="0" spc="1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· 建图</a:t>
                      </a:r>
                      <a:r>
                        <a:rPr sz="1900" b="1" kern="0" spc="17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900" b="1" kern="0" spc="1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· 导</a:t>
                      </a:r>
                      <a:r>
                        <a:rPr sz="1900" b="1" kern="0" spc="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航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785" algn="l" rtl="0" eaLnBrk="0">
                        <a:lnSpc>
                          <a:spcPts val="1660"/>
                        </a:lnSpc>
                        <a:spcBef>
                          <a:spcPts val="0"/>
                        </a:spcBef>
                      </a:pPr>
                      <a:r>
                        <a:rPr sz="1200" kern="0" spc="5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4.2</a:t>
                      </a:r>
                      <a:r>
                        <a:rPr sz="1200" kern="0" spc="20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 4.2</a:t>
                      </a:r>
                      <a:r>
                        <a:rPr sz="1200" kern="0" spc="13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 程序化场地 · </a:t>
                      </a:r>
                      <a:r>
                        <a:rPr sz="1200" kern="0" spc="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GMapping</a:t>
                      </a:r>
                      <a:r>
                        <a:rPr sz="1200" kern="0" spc="5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探</a:t>
                      </a:r>
                      <a:r>
                        <a:rPr sz="1200" kern="0" spc="4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明率 97.2%</a:t>
                      </a:r>
                      <a:r>
                        <a:rPr sz="1200" kern="0" spc="10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· </a:t>
                      </a:r>
                      <a:r>
                        <a:rPr lang="en-US" sz="1200" kern="0" spc="4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</a:t>
                      </a:r>
                      <a:r>
                        <a:rPr lang="zh-CN" sz="1200" kern="0" spc="4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个任务点设置</a:t>
                      </a:r>
                      <a:endParaRPr lang="zh-CN" sz="1200" kern="0" spc="4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0040" algn="l" rtl="0" eaLnBrk="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sz="1100" kern="0" spc="-1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P0</a:t>
                      </a:r>
                      <a:r>
                        <a:rPr lang="en-US" sz="1100" kern="0" spc="-1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r>
                        <a:rPr sz="1100" kern="0" spc="-1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–</a:t>
                      </a:r>
                      <a:r>
                        <a:rPr lang="en-US" sz="1100" kern="0" spc="-1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</a:t>
                      </a:r>
                      <a:endParaRPr lang="en-US" sz="1100" kern="0" spc="-10" dirty="0">
                        <a:solidFill>
                          <a:srgbClr val="8B97A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box 24"/>
          <p:cNvSpPr/>
          <p:nvPr/>
        </p:nvSpPr>
        <p:spPr>
          <a:xfrm>
            <a:off x="4924974" y="4618767"/>
            <a:ext cx="5091429" cy="657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b="1" kern="0" spc="1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视觉识别</a:t>
            </a:r>
            <a:r>
              <a:rPr sz="1900" b="1" kern="0" spc="24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b="1" kern="0" spc="1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工程判断</a:t>
            </a:r>
            <a:r>
              <a:rPr sz="1900" b="1" kern="0" spc="17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b="1" kern="0" spc="1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进度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ts val="1660"/>
              </a:lnSpc>
              <a:spcBef>
                <a:spcPts val="5"/>
              </a:spcBef>
            </a:pPr>
            <a:r>
              <a:rPr sz="1200" kern="0" spc="7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视觉链路 · 工程判断 · 硬</a:t>
            </a:r>
            <a:r>
              <a:rPr sz="12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件选型与 </a:t>
            </a:r>
            <a:r>
              <a:rPr sz="1200" kern="0" spc="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</a:t>
            </a:r>
            <a:r>
              <a:rPr sz="12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200" kern="0" spc="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</a:t>
            </a:r>
            <a:r>
              <a:rPr sz="1200" kern="0" spc="10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1200" kern="0" spc="13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已完成与未完成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4925982" y="1761019"/>
            <a:ext cx="4411345" cy="638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b="1" kern="0" spc="4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赛题理解与总体方案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0"/>
              </a:spcBef>
            </a:pPr>
            <a:r>
              <a:rPr lang="zh-CN" sz="1200" kern="0" spc="7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复赛</a:t>
            </a:r>
            <a:r>
              <a:rPr sz="1200" kern="0" spc="7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核心挑战 ·</a:t>
            </a:r>
            <a:r>
              <a:rPr sz="1200" kern="0" spc="14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</a:t>
            </a:r>
            <a:r>
              <a:rPr sz="12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节点拓扑与跨语言架构</a:t>
            </a:r>
            <a:r>
              <a:rPr lang="en-US" sz="12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2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底盘与迁移</a:t>
            </a:r>
            <a:endParaRPr sz="1200">
              <a:sym typeface="+mn-ea"/>
            </a:endParaRPr>
          </a:p>
          <a:p>
            <a:pPr marL="12700" algn="l" rtl="0" eaLnBrk="0">
              <a:lnSpc>
                <a:spcPct val="88000"/>
              </a:lnSpc>
              <a:spcBef>
                <a:spcPts val="0"/>
              </a:spcBef>
            </a:pPr>
            <a:endParaRPr lang="en-US" sz="1200" kern="0" spc="6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426720" y="3110865"/>
            <a:ext cx="2172335" cy="136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>
            <a:outerShdw blurRad="5461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79000"/>
              </a:lnSpc>
            </a:pP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2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  <a:spcBef>
                <a:spcPts val="370"/>
              </a:spcBef>
            </a:pPr>
            <a:r>
              <a:rPr sz="2000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赛题与方案</a:t>
            </a:r>
            <a:endParaRPr sz="2000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  <a:p>
            <a:pPr marL="12700" algn="l" rtl="0" eaLnBrk="0">
              <a:lnSpc>
                <a:spcPct val="100000"/>
              </a:lnSpc>
              <a:spcBef>
                <a:spcPts val="370"/>
              </a:spcBef>
            </a:pPr>
            <a:r>
              <a:rPr sz="2000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场景与巡检</a:t>
            </a:r>
            <a:endParaRPr sz="2000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  <a:p>
            <a:pPr marL="12700" algn="l" rtl="0" eaLnBrk="0">
              <a:lnSpc>
                <a:spcPct val="100000"/>
              </a:lnSpc>
              <a:spcBef>
                <a:spcPts val="370"/>
              </a:spcBef>
            </a:pPr>
            <a:r>
              <a:rPr sz="2000">
                <a:solidFill>
                  <a:schemeClr val="bg1"/>
                </a:solidFill>
                <a:sym typeface="+mn-ea"/>
              </a:rPr>
              <a:t>视觉与验证</a:t>
            </a:r>
            <a:endParaRPr sz="1400">
              <a:solidFill>
                <a:schemeClr val="bg1"/>
              </a:solidFill>
              <a:sym typeface="+mn-ea"/>
            </a:endParaRPr>
          </a:p>
          <a:p>
            <a:pPr marL="12700" indent="1270" algn="l" rtl="0" eaLnBrk="0">
              <a:lnSpc>
                <a:spcPct val="167000"/>
              </a:lnSpc>
              <a:spcBef>
                <a:spcPts val="135"/>
              </a:spcBef>
            </a:pPr>
            <a:endParaRPr sz="1400" kern="0" spc="-1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4114800" y="1723644"/>
            <a:ext cx="706119" cy="706119"/>
          </a:xfrm>
          <a:prstGeom prst="rect">
            <a:avLst/>
          </a:prstGeom>
          <a:solidFill>
            <a:srgbClr val="E8EF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algn="l" rtl="0" eaLnBrk="0">
              <a:lnSpc>
                <a:spcPts val="2975"/>
              </a:lnSpc>
              <a:spcBef>
                <a:spcPts val="0"/>
              </a:spcBef>
            </a:pPr>
            <a:r>
              <a:rPr sz="2200" b="1" kern="0" spc="-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4114800" y="4581144"/>
            <a:ext cx="706119" cy="706119"/>
          </a:xfrm>
          <a:prstGeom prst="rect">
            <a:avLst/>
          </a:prstGeom>
          <a:solidFill>
            <a:srgbClr val="E8EF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algn="l" rtl="0" eaLnBrk="0">
              <a:lnSpc>
                <a:spcPts val="2975"/>
              </a:lnSpc>
              <a:spcBef>
                <a:spcPts val="0"/>
              </a:spcBef>
            </a:pPr>
            <a:r>
              <a:rPr sz="2200" b="1" kern="0" spc="-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4114800" y="3152775"/>
            <a:ext cx="706119" cy="704850"/>
          </a:xfrm>
          <a:prstGeom prst="rect">
            <a:avLst/>
          </a:prstGeom>
          <a:solidFill>
            <a:srgbClr val="E8EF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algn="l" rtl="0" eaLnBrk="0">
              <a:lnSpc>
                <a:spcPts val="2975"/>
              </a:lnSpc>
            </a:pPr>
            <a:r>
              <a:rPr sz="2200" b="1" kern="0" spc="-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426720" y="1969770"/>
            <a:ext cx="1810385" cy="395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>
            <a:outerShdw blurRad="5461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48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000" b="1" kern="0" spc="7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10917014" y="4827183"/>
            <a:ext cx="51435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60"/>
              </a:lnSpc>
            </a:pPr>
            <a:r>
              <a:rPr sz="1100" kern="0" spc="-1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r>
              <a:rPr lang="en-US" sz="1100" kern="0" spc="-1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100" kern="0" spc="-1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–15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0917014" y="1969683"/>
            <a:ext cx="51435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60"/>
              </a:lnSpc>
            </a:pPr>
            <a:r>
              <a:rPr sz="1100" kern="0" spc="-1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P03–0</a:t>
            </a:r>
            <a:r>
              <a:rPr lang="en-US" sz="1100" kern="0" spc="-1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en-US" sz="1100" kern="0" spc="-10" dirty="0">
              <a:solidFill>
                <a:srgbClr val="8B97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path 42"/>
          <p:cNvSpPr/>
          <p:nvPr/>
        </p:nvSpPr>
        <p:spPr>
          <a:xfrm>
            <a:off x="438785" y="2886710"/>
            <a:ext cx="1214120" cy="76200"/>
          </a:xfrm>
          <a:custGeom>
            <a:avLst/>
            <a:gdLst/>
            <a:ahLst/>
            <a:cxnLst/>
            <a:rect l="0" t="0" r="0" b="0"/>
            <a:pathLst>
              <a:path w="959" h="60">
                <a:moveTo>
                  <a:pt x="0" y="0"/>
                </a:moveTo>
                <a:lnTo>
                  <a:pt x="959" y="0"/>
                </a:lnTo>
                <a:lnTo>
                  <a:pt x="959" y="60"/>
                </a:lnTo>
                <a:lnTo>
                  <a:pt x="0" y="60"/>
                </a:lnTo>
                <a:lnTo>
                  <a:pt x="0" y="0"/>
                </a:lnTo>
                <a:close/>
              </a:path>
            </a:pathLst>
          </a:custGeom>
          <a:solidFill>
            <a:srgbClr val="FFC107">
              <a:alpha val="100000"/>
            </a:srgbClr>
          </a:solidFill>
          <a:ln w="0" cap="flat">
            <a:noFill/>
            <a:prstDash val="solid"/>
            <a:miter lim="0"/>
          </a:ln>
          <a:effectLst>
            <a:outerShdw blurRad="5461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/>
          <a:p>
            <a:pPr algn="ctr"/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exec-e10cc41a-a3c9-429c-b1cc-fda557be261c"/>
          <p:cNvPicPr>
            <a:picLocks noChangeAspect="1"/>
          </p:cNvPicPr>
          <p:nvPr/>
        </p:nvPicPr>
        <p:blipFill>
          <a:blip r:embed="rId1"/>
          <a:srcRect l="-1493" t="2565" r="20116"/>
          <a:stretch>
            <a:fillRect/>
          </a:stretch>
        </p:blipFill>
        <p:spPr>
          <a:xfrm>
            <a:off x="3205480" y="0"/>
            <a:ext cx="8986520" cy="6682105"/>
          </a:xfrm>
          <a:prstGeom prst="rect">
            <a:avLst/>
          </a:prstGeom>
        </p:spPr>
      </p:pic>
      <p:sp>
        <p:nvSpPr>
          <p:cNvPr id="44" name="rect 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86000">
                <a:srgbClr val="023355">
                  <a:alpha val="70000"/>
                </a:srgbClr>
              </a:gs>
              <a:gs pos="0">
                <a:srgbClr val="082050"/>
              </a:gs>
              <a:gs pos="61000">
                <a:srgbClr val="023355"/>
              </a:gs>
              <a:gs pos="0">
                <a:srgbClr val="0E0C4B"/>
              </a:gs>
              <a:gs pos="100000">
                <a:srgbClr val="070948">
                  <a:alpha val="28000"/>
                </a:srgbClr>
              </a:gs>
            </a:gsLst>
            <a:lin ang="0" scaled="0"/>
          </a:gradFill>
          <a:ln w="0" cap="flat">
            <a:noFill/>
            <a:prstDash val="solid"/>
            <a:miter lim="0"/>
          </a:ln>
          <a:effectLst>
            <a:outerShdw dist="50800" dir="5400000" algn="ctr" rotWithShape="0">
              <a:srgbClr val="000000">
                <a:alpha val="43000"/>
              </a:srgbClr>
            </a:outerShdw>
          </a:effectLst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139700" y="6051550"/>
            <a:ext cx="12331700" cy="9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7578343" y="2850261"/>
            <a:ext cx="4805045" cy="530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>
            <a:outerShdw blurRad="2921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1550"/>
              </a:lnSpc>
            </a:pPr>
            <a:r>
              <a:rPr sz="31400" b="1" kern="0" spc="-560" dirty="0">
                <a:solidFill>
                  <a:srgbClr val="17499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711200" y="2263614"/>
            <a:ext cx="5389879" cy="2315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5785" algn="l" rtl="0" eaLnBrk="0">
              <a:lnSpc>
                <a:spcPts val="1660"/>
              </a:lnSpc>
              <a:tabLst>
                <a:tab pos="743585" algn="l"/>
              </a:tabLst>
            </a:pP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CHAPTER</a:t>
            </a:r>
            <a:r>
              <a:rPr sz="1200" kern="0" spc="4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01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87000"/>
              </a:lnSpc>
              <a:spcBef>
                <a:spcPts val="1150"/>
              </a:spcBef>
            </a:pPr>
            <a:r>
              <a:rPr sz="38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赛题理解与总体方案</a:t>
            </a:r>
            <a:endParaRPr sz="3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ts val="1935"/>
              </a:lnSpc>
              <a:spcBef>
                <a:spcPts val="460"/>
              </a:spcBef>
              <a:tabLst>
                <a:tab pos="224790" algn="l"/>
              </a:tabLst>
            </a:pP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规则拆解：任务一</a:t>
            </a:r>
            <a:r>
              <a:rPr sz="1500" kern="0" spc="1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：仿真场景中的虚拟机器人巡检</a:t>
            </a:r>
            <a:r>
              <a:rPr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sz="1500" kern="0" spc="-20" dirty="0">
              <a:solidFill>
                <a:srgbClr val="CFE0F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935"/>
              </a:lnSpc>
              <a:spcBef>
                <a:spcPts val="460"/>
              </a:spcBef>
              <a:tabLst>
                <a:tab pos="224790" algn="l"/>
              </a:tabLst>
            </a:pPr>
            <a:r>
              <a:rPr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</a:t>
            </a:r>
            <a:r>
              <a:rPr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任务二</a:t>
            </a:r>
            <a:r>
              <a:rPr lang="en-US"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：技术方案与实车迁移思路</a:t>
            </a: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1500" kern="0" spc="0" dirty="0">
              <a:solidFill>
                <a:srgbClr val="CFE0F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935"/>
              </a:lnSpc>
              <a:spcBef>
                <a:spcPts val="460"/>
              </a:spcBef>
              <a:tabLst>
                <a:tab pos="224790" algn="l"/>
              </a:tabLst>
            </a:pPr>
            <a:r>
              <a:rPr lang="en-US"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四条工作线：场景与仿真 / 定</a:t>
            </a:r>
            <a:r>
              <a:rPr sz="15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位与导航 / 视觉识别 / 工程集成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ct val="87000"/>
              </a:lnSpc>
              <a:spcBef>
                <a:spcPts val="5"/>
              </a:spcBef>
              <a:tabLst>
                <a:tab pos="224790" algn="l"/>
              </a:tabLst>
            </a:pP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5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本页范围：系统架构与</a:t>
            </a:r>
            <a:r>
              <a:rPr sz="1500" kern="0" spc="1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 节</a:t>
            </a:r>
            <a:r>
              <a:rPr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点拓扑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path 50"/>
          <p:cNvSpPr/>
          <p:nvPr/>
        </p:nvSpPr>
        <p:spPr>
          <a:xfrm>
            <a:off x="723900" y="42894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path 52"/>
          <p:cNvSpPr/>
          <p:nvPr/>
        </p:nvSpPr>
        <p:spPr>
          <a:xfrm>
            <a:off x="723900" y="46259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" name="path 54"/>
          <p:cNvSpPr/>
          <p:nvPr/>
        </p:nvSpPr>
        <p:spPr>
          <a:xfrm>
            <a:off x="723900" y="36576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723900" y="2362200"/>
            <a:ext cx="553211" cy="47244"/>
          </a:xfrm>
          <a:custGeom>
            <a:avLst/>
            <a:gdLst/>
            <a:ahLst/>
            <a:cxnLst/>
            <a:rect l="0" t="0" r="0" b="0"/>
            <a:pathLst>
              <a:path w="871" h="74">
                <a:moveTo>
                  <a:pt x="0" y="0"/>
                </a:moveTo>
                <a:lnTo>
                  <a:pt x="871" y="0"/>
                </a:lnTo>
                <a:lnTo>
                  <a:pt x="871" y="74"/>
                </a:lnTo>
                <a:lnTo>
                  <a:pt x="0" y="74"/>
                </a:lnTo>
                <a:lnTo>
                  <a:pt x="0" y="0"/>
                </a:lnTo>
                <a:close/>
              </a:path>
            </a:pathLst>
          </a:custGeom>
          <a:solidFill>
            <a:srgbClr val="FFC10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60"/>
          <p:cNvSpPr/>
          <p:nvPr/>
        </p:nvSpPr>
        <p:spPr>
          <a:xfrm>
            <a:off x="406400" y="380142"/>
            <a:ext cx="6823075" cy="3674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88000"/>
              </a:lnSpc>
            </a:pPr>
            <a:r>
              <a:rPr sz="2500" b="1" kern="0" spc="4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赛题拆解：</a:t>
            </a:r>
            <a:r>
              <a:rPr sz="2500" b="1" kern="0" spc="-64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4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三条挑战与四条</a:t>
            </a:r>
            <a:r>
              <a:rPr sz="2500" b="1" kern="0" spc="3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工作线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0485" algn="l" rtl="0" eaLnBrk="0">
              <a:lnSpc>
                <a:spcPct val="84000"/>
              </a:lnSpc>
              <a:spcBef>
                <a:spcPts val="490"/>
              </a:spcBef>
              <a:tabLst>
                <a:tab pos="189230" algn="l"/>
              </a:tabLst>
            </a:pPr>
            <a:r>
              <a:rPr sz="1600" b="1" kern="0" spc="0" dirty="0">
                <a:solidFill>
                  <a:srgbClr val="1A223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b="1" kern="0" spc="10" baseline="-2000" dirty="0">
                <a:solidFill>
                  <a:srgbClr val="1A223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三条核心挑战</a:t>
            </a:r>
            <a:r>
              <a:rPr sz="1600" b="1" kern="0" spc="430" dirty="0">
                <a:solidFill>
                  <a:srgbClr val="1A223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700" baseline="6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3045" algn="l" rtl="0" eaLnBrk="0">
              <a:lnSpc>
                <a:spcPts val="2975"/>
              </a:lnSpc>
              <a:spcBef>
                <a:spcPts val="670"/>
              </a:spcBef>
            </a:pPr>
            <a:r>
              <a:rPr sz="3400" b="1" kern="0" spc="20" baseline="-100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200" b="1" kern="0" spc="2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kern="0" spc="2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b="1" kern="0" spc="20" baseline="2400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通道窄：行</a:t>
            </a:r>
            <a:r>
              <a:rPr sz="2800" b="1" kern="0" spc="10" baseline="2400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车道净宽只有</a:t>
            </a:r>
            <a:r>
              <a:rPr sz="1600" b="1" kern="0" spc="1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b="1" kern="0" spc="10" baseline="2400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</a:t>
            </a:r>
            <a:r>
              <a:rPr sz="1600" b="1" kern="0" spc="13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b="1" kern="0" spc="10" baseline="2400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endParaRPr sz="2400" baseline="2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58190" indent="635" algn="l" rtl="0" eaLnBrk="0">
              <a:lnSpc>
                <a:spcPct val="143000"/>
              </a:lnSpc>
              <a:spcBef>
                <a:spcPts val="25"/>
              </a:spcBef>
            </a:pPr>
            <a:r>
              <a:rPr sz="14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底盘外廓约 334 × 303 mm，居中行驶时每侧余量约 0.15 m。采用与场地一致的地图和任务点姿态，并检查行驶过程中的道路边界与停靠位置。</a:t>
            </a:r>
            <a:endParaRPr sz="1400" kern="0" spc="6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58190" indent="635" algn="l" rtl="0" eaLnBrk="0">
              <a:lnSpc>
                <a:spcPct val="153000"/>
              </a:lnSpc>
              <a:spcBef>
                <a:spcPts val="25"/>
              </a:spcBef>
            </a:pPr>
            <a:endParaRPr lang="zh-CN" altLang="en-US" sz="2800" baseline="2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r>
              <a:rPr lang="en-US" sz="3400" b="1" kern="0" spc="10" baseline="-100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400" b="1" kern="0" spc="10" baseline="-100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200" b="1" kern="0" spc="1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b="1" kern="0" spc="10" baseline="2400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路口要按灯色通行</a:t>
            </a:r>
            <a:endParaRPr sz="2400" baseline="2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66445" algn="l" rtl="0" eaLnBrk="0">
              <a:lnSpc>
                <a:spcPts val="2000"/>
              </a:lnSpc>
              <a:spcBef>
                <a:spcPts val="405"/>
              </a:spcBef>
              <a:spcAft>
                <a:spcPts val="0"/>
              </a:spcAft>
            </a:pPr>
            <a:r>
              <a:rPr sz="14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当前路线设有上、下两处灯控等待点。机器人先停在线前，连续判断灯态；红灯、黄灯或未知状态保持等待，确认绿灯后通行，并记录跨线事件。</a:t>
            </a:r>
            <a:endParaRPr sz="1400" kern="0" spc="6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path 62"/>
          <p:cNvSpPr/>
          <p:nvPr/>
        </p:nvSpPr>
        <p:spPr>
          <a:xfrm>
            <a:off x="419100" y="914400"/>
            <a:ext cx="57912" cy="248411"/>
          </a:xfrm>
          <a:custGeom>
            <a:avLst/>
            <a:gdLst/>
            <a:ahLst/>
            <a:cxnLst/>
            <a:rect l="0" t="0" r="0" b="0"/>
            <a:pathLst>
              <a:path w="91" h="391">
                <a:moveTo>
                  <a:pt x="0" y="0"/>
                </a:moveTo>
                <a:lnTo>
                  <a:pt x="91" y="0"/>
                </a:lnTo>
                <a:lnTo>
                  <a:pt x="91" y="391"/>
                </a:lnTo>
                <a:lnTo>
                  <a:pt x="0" y="391"/>
                </a:lnTo>
                <a:lnTo>
                  <a:pt x="0" y="0"/>
                </a:lnTo>
                <a:close/>
              </a:path>
            </a:pathLst>
          </a:custGeom>
          <a:solidFill>
            <a:srgbClr val="1E4FA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848600" y="876300"/>
            <a:ext cx="3390900" cy="5334000"/>
            <a:chOff x="0" y="0"/>
            <a:chExt cx="3390900" cy="5334000"/>
          </a:xfrm>
        </p:grpSpPr>
        <p:sp>
          <p:nvSpPr>
            <p:cNvPr id="64" name="rect 64"/>
            <p:cNvSpPr/>
            <p:nvPr/>
          </p:nvSpPr>
          <p:spPr>
            <a:xfrm>
              <a:off x="0" y="0"/>
              <a:ext cx="3390900" cy="5334000"/>
            </a:xfrm>
            <a:prstGeom prst="rect">
              <a:avLst/>
            </a:prstGeom>
            <a:solidFill>
              <a:srgbClr val="E8EF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" name="rect 66"/>
            <p:cNvSpPr/>
            <p:nvPr/>
          </p:nvSpPr>
          <p:spPr>
            <a:xfrm>
              <a:off x="171450" y="2990850"/>
              <a:ext cx="3048761" cy="10005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8" name="rect 68"/>
            <p:cNvSpPr/>
            <p:nvPr/>
          </p:nvSpPr>
          <p:spPr>
            <a:xfrm>
              <a:off x="171450" y="676275"/>
              <a:ext cx="3048761" cy="10001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0" name="rect 70"/>
            <p:cNvSpPr/>
            <p:nvPr/>
          </p:nvSpPr>
          <p:spPr>
            <a:xfrm>
              <a:off x="171450" y="1837944"/>
              <a:ext cx="3048761" cy="10012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" name="rect 72"/>
            <p:cNvSpPr/>
            <p:nvPr/>
          </p:nvSpPr>
          <p:spPr>
            <a:xfrm>
              <a:off x="171450" y="4152900"/>
              <a:ext cx="3048761" cy="10001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" name="textbox 74"/>
            <p:cNvSpPr/>
            <p:nvPr/>
          </p:nvSpPr>
          <p:spPr>
            <a:xfrm>
              <a:off x="159511" y="166353"/>
              <a:ext cx="2884804" cy="48533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130" algn="l" rtl="0" eaLnBrk="0">
                <a:lnSpc>
                  <a:spcPct val="87000"/>
                </a:lnSpc>
              </a:pPr>
              <a:r>
                <a:rPr sz="1600" b="1" kern="0" spc="20" dirty="0">
                  <a:solidFill>
                    <a:srgbClr val="0E3F8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四条工作线</a:t>
              </a:r>
              <a:endPara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1000"/>
                </a:lnSpc>
                <a:spcBef>
                  <a:spcPts val="210"/>
                </a:spcBef>
                <a:tabLst>
                  <a:tab pos="449580" algn="l"/>
                </a:tabLst>
              </a:pPr>
              <a:r>
                <a:rPr sz="1000" u="sng" kern="0" spc="0" dirty="0">
                  <a:solidFill>
                    <a:srgbClr val="000000">
                      <a:alpha val="100000"/>
                    </a:srgbClr>
                  </a:solidFill>
                  <a:uFill>
                    <a:solidFill>
                      <a:srgbClr val="1E4FA8"/>
                    </a:solidFill>
                  </a:u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7320" algn="l" rtl="0" eaLnBrk="0">
                <a:lnSpc>
                  <a:spcPct val="87000"/>
                </a:lnSpc>
                <a:spcBef>
                  <a:spcPts val="430"/>
                </a:spcBef>
              </a:pPr>
              <a:r>
                <a:rPr sz="1400" b="1" kern="0" spc="2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场景与仿真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46050" algn="l" rtl="0" eaLnBrk="0">
                <a:lnSpc>
                  <a:spcPct val="146000"/>
                </a:lnSpc>
                <a:spcBef>
                  <a:spcPts val="445"/>
                </a:spcBef>
              </a:pPr>
              <a:r>
                <a:rPr lang="en-US" altLang="zh-CN" sz="1100" kern="0" spc="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4.2 × 4.2 m </a:t>
              </a:r>
              <a:r>
                <a:rPr lang="zh-CN" altLang="en-US" sz="1100" kern="0" spc="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社区场地；布置道路、楼宇、人偶、灯控和停车位。</a:t>
              </a:r>
              <a:endParaRPr lang="zh-CN" altLang="en-US" sz="1100" kern="0" spc="1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46050" algn="l" rtl="0" eaLnBrk="0">
                <a:lnSpc>
                  <a:spcPct val="146000"/>
                </a:lnSpc>
                <a:spcBef>
                  <a:spcPts val="445"/>
                </a:spcBef>
              </a:pP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1765" algn="l" rtl="0" eaLnBrk="0">
                <a:lnSpc>
                  <a:spcPts val="1460"/>
                </a:lnSpc>
                <a:spcBef>
                  <a:spcPts val="890"/>
                </a:spcBef>
              </a:pPr>
              <a:r>
                <a:rPr sz="1400" b="1" kern="0" spc="2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建图与巡检</a:t>
              </a:r>
              <a:endParaRPr sz="1400" b="1" kern="0" spc="20" dirty="0">
                <a:solidFill>
                  <a:srgbClr val="1A223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7480" algn="l" rtl="0" eaLnBrk="0">
                <a:lnSpc>
                  <a:spcPts val="1965"/>
                </a:lnSpc>
              </a:pPr>
              <a:r>
                <a:rPr lang="en-US" altLang="zh-CN"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GMapping </a:t>
              </a:r>
              <a:r>
                <a:rPr lang="zh-CN" altLang="en-US"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建图；设置里程计巡检与 </a:t>
              </a:r>
              <a:r>
                <a:rPr lang="en-US" altLang="zh-CN"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AMCL＋move_base </a:t>
              </a:r>
              <a:r>
                <a:rPr lang="zh-CN" altLang="en-US"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两种运行入口。</a:t>
              </a:r>
              <a:endParaRPr lang="zh-CN" altLang="en-US" sz="1100" kern="0" spc="-1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7955" algn="l" rtl="0" eaLnBrk="0">
                <a:lnSpc>
                  <a:spcPct val="87000"/>
                </a:lnSpc>
                <a:spcBef>
                  <a:spcPts val="420"/>
                </a:spcBef>
              </a:pPr>
              <a:r>
                <a:rPr sz="1400" b="1" kern="0" spc="2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视觉识别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8750" indent="-10795" algn="l" rtl="0" eaLnBrk="0">
                <a:lnSpc>
                  <a:spcPct val="157000"/>
                </a:lnSpc>
                <a:spcBef>
                  <a:spcPts val="630"/>
                </a:spcBef>
              </a:pPr>
              <a:r>
                <a:rPr lang="en-US" altLang="zh-CN"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红绿灯状态判断、18 类人偶检测和车牌 OCR；由独立 Python 3 服务推理。</a:t>
              </a:r>
              <a:endParaRPr lang="en-US" altLang="zh-CN" sz="1100" kern="0" spc="-1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5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9225" algn="l" rtl="0" eaLnBrk="0">
                <a:lnSpc>
                  <a:spcPct val="157000"/>
                </a:lnSpc>
                <a:spcBef>
                  <a:spcPts val="420"/>
                </a:spcBef>
              </a:pPr>
              <a:r>
                <a:rPr sz="1400" b="1" kern="0" spc="1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工程集成</a:t>
              </a:r>
              <a:r>
                <a:rPr lang="en-US" altLang="zh-CN" sz="14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en-US" altLang="zh-CN" sz="1400" kern="0" spc="-1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49225" algn="l" rtl="0" eaLnBrk="0">
                <a:lnSpc>
                  <a:spcPct val="157000"/>
                </a:lnSpc>
                <a:spcBef>
                  <a:spcPts val="420"/>
                </a:spcBef>
              </a:pPr>
              <a:r>
                <a:rPr lang="en-US" altLang="zh-CN"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连接 ROS 与推理服务，按任务点触发观察,并保存图像及结构化结果。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r" rtl="0" eaLnBrk="0">
                <a:lnSpc>
                  <a:spcPct val="85000"/>
                </a:lnSpc>
                <a:spcBef>
                  <a:spcPts val="1100"/>
                </a:spcBef>
              </a:pPr>
              <a:endParaRPr lang="en-US" altLang="zh-CN" sz="1100" kern="0" spc="-1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8" name="textbox 78"/>
          <p:cNvSpPr/>
          <p:nvPr/>
        </p:nvSpPr>
        <p:spPr>
          <a:xfrm>
            <a:off x="407739" y="6309926"/>
            <a:ext cx="11370944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智慧社区复赛答辩 · </a:t>
            </a:r>
            <a:r>
              <a:rPr lang="en-US"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close_ai</a:t>
            </a:r>
            <a:r>
              <a:rPr sz="1400" kern="0" spc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000" kern="0" spc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</a:t>
            </a:r>
            <a:endParaRPr sz="1000" kern="0" spc="0" dirty="0">
              <a:solidFill>
                <a:srgbClr val="8B97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000" kern="0" spc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04/16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path 80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1150" y="4215765"/>
            <a:ext cx="6752590" cy="1516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6695" algn="l" rtl="0" eaLnBrk="0">
              <a:lnSpc>
                <a:spcPts val="2975"/>
              </a:lnSpc>
              <a:spcBef>
                <a:spcPts val="5"/>
              </a:spcBef>
            </a:pPr>
            <a:r>
              <a:rPr sz="3400" b="1" kern="0" spc="10" baseline="-100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</a:t>
            </a:r>
            <a:r>
              <a:rPr b="1" kern="0" spc="16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b="1" kern="0" spc="16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2800" b="1" kern="0" spc="10" baseline="2400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目标多样、外观相近</a:t>
            </a:r>
            <a:endParaRPr baseline="2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65810" indent="0" algn="l" rtl="0" eaLnBrk="0" fontAlgn="auto">
              <a:lnSpc>
                <a:spcPts val="1660"/>
              </a:lnSpc>
              <a:spcBef>
                <a:spcPts val="1000"/>
              </a:spcBef>
            </a:pPr>
            <a:r>
              <a:rPr sz="1400" kern="0" spc="6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场景设置 18 个人偶立牌，其中 16 名社区人员、2 名非社区人员。人物使用 18 类 YOLO 模型直接检测身份；车位任务通过抓拍、车牌 OCR 和结果校验处理。</a:t>
            </a:r>
            <a:endParaRPr sz="1400" kern="0" spc="6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19100" y="4215765"/>
            <a:ext cx="7254875" cy="129349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6400" y="2822575"/>
            <a:ext cx="7254875" cy="129349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19100" y="1429385"/>
            <a:ext cx="7254875" cy="129349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8953500" y="161290"/>
            <a:ext cx="4655820" cy="610870"/>
            <a:chOff x="14688" y="261"/>
            <a:chExt cx="7332" cy="962"/>
          </a:xfrm>
        </p:grpSpPr>
        <p:sp>
          <p:nvSpPr>
            <p:cNvPr id="176" name="1"/>
            <p:cNvSpPr/>
            <p:nvPr>
              <p:custDataLst>
                <p:tags r:id="rId1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6348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4522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2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赛题理解与总体方案</a:t>
              </a:r>
              <a:endParaRPr sz="2000" kern="0" spc="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7400290" y="1889125"/>
            <a:ext cx="13970" cy="3730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4" name="picture 84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12750" y="869950"/>
            <a:ext cx="6650355" cy="53467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</p:pic>
      <p:grpSp>
        <p:nvGrpSpPr>
          <p:cNvPr id="2" name="组合 1"/>
          <p:cNvGrpSpPr/>
          <p:nvPr/>
        </p:nvGrpSpPr>
        <p:grpSpPr>
          <a:xfrm>
            <a:off x="7217410" y="2071370"/>
            <a:ext cx="4784725" cy="3382010"/>
            <a:chOff x="11274" y="3263"/>
            <a:chExt cx="7535" cy="5326"/>
          </a:xfrm>
        </p:grpSpPr>
        <p:sp>
          <p:nvSpPr>
            <p:cNvPr id="88" name="rect 88"/>
            <p:cNvSpPr/>
            <p:nvPr/>
          </p:nvSpPr>
          <p:spPr>
            <a:xfrm>
              <a:off x="11282" y="6023"/>
              <a:ext cx="511" cy="511"/>
            </a:xfrm>
            <a:prstGeom prst="rect">
              <a:avLst/>
            </a:prstGeom>
            <a:solidFill>
              <a:srgbClr val="E8EF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" name="rect 90"/>
            <p:cNvSpPr/>
            <p:nvPr/>
          </p:nvSpPr>
          <p:spPr>
            <a:xfrm>
              <a:off x="11282" y="7403"/>
              <a:ext cx="511" cy="511"/>
            </a:xfrm>
            <a:prstGeom prst="rect">
              <a:avLst/>
            </a:prstGeom>
            <a:solidFill>
              <a:srgbClr val="E8EF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" name="rect 92"/>
            <p:cNvSpPr/>
            <p:nvPr/>
          </p:nvSpPr>
          <p:spPr>
            <a:xfrm>
              <a:off x="11274" y="4643"/>
              <a:ext cx="511" cy="511"/>
            </a:xfrm>
            <a:prstGeom prst="rect">
              <a:avLst/>
            </a:prstGeom>
            <a:solidFill>
              <a:srgbClr val="E8EF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" name="rect 94"/>
            <p:cNvSpPr/>
            <p:nvPr/>
          </p:nvSpPr>
          <p:spPr>
            <a:xfrm>
              <a:off x="11274" y="3263"/>
              <a:ext cx="511" cy="511"/>
            </a:xfrm>
            <a:prstGeom prst="rect">
              <a:avLst/>
            </a:prstGeom>
            <a:solidFill>
              <a:srgbClr val="E8EF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" name="textbox 96"/>
            <p:cNvSpPr/>
            <p:nvPr/>
          </p:nvSpPr>
          <p:spPr>
            <a:xfrm>
              <a:off x="11282" y="3269"/>
              <a:ext cx="7527" cy="5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tabLst>
                  <a:tab pos="118110" algn="l"/>
                </a:tabLst>
              </a:pPr>
              <a:r>
                <a:rPr lang="en-US" sz="1700" b="1" kern="0" spc="30" baseline="-2100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700" b="1" kern="0" spc="30" baseline="-2100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</a:t>
              </a:r>
              <a:r>
                <a:rPr sz="1100" b="1" kern="0" spc="3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1300" b="1" kern="0" spc="3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传感与仿真层</a:t>
              </a:r>
              <a:endParaRPr sz="1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452755" indent="4445" algn="l" rtl="0" eaLnBrk="0">
                <a:lnSpc>
                  <a:spcPct val="146000"/>
                </a:lnSpc>
                <a:spcBef>
                  <a:spcPts val="235"/>
                </a:spcBef>
              </a:pPr>
              <a:r>
                <a:rPr sz="1100" kern="0" spc="3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Gazebo 发布 /scan、/odom、/tf 和相机图像，为建图、定位及任务取像提供输入</a:t>
              </a:r>
              <a:endParaRPr lang="zh-CN" altLang="en-US" sz="1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1285"/>
                </a:spcBef>
                <a:tabLst>
                  <a:tab pos="138430" algn="l"/>
                </a:tabLst>
              </a:pPr>
              <a:r>
                <a:rPr lang="en-US" sz="1700" b="1" kern="0" spc="20" baseline="-2100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700" b="1" kern="0" spc="20" baseline="-2100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</a:t>
              </a:r>
              <a:r>
                <a:rPr sz="1100" b="1" kern="0" spc="3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1300" b="1" kern="0" spc="2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定位与规划层</a:t>
              </a:r>
              <a:endParaRPr sz="1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448310" indent="8890" algn="l" rtl="0" eaLnBrk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kern="0" spc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GMapping</a:t>
              </a:r>
              <a:r>
                <a:rPr sz="1100" kern="0" spc="3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建图 /</a:t>
              </a:r>
              <a:r>
                <a:rPr sz="1100" kern="0" spc="9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100" kern="0" spc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map</a:t>
              </a:r>
              <a:r>
                <a:rPr sz="1100" kern="0" spc="3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_</a:t>
              </a:r>
              <a:r>
                <a:rPr sz="1100" kern="0" spc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server</a:t>
              </a:r>
              <a:r>
                <a:rPr sz="1100" kern="0" spc="3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载图 / </a:t>
              </a:r>
              <a:r>
                <a:rPr sz="1100" kern="0" spc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AMCL</a:t>
              </a:r>
              <a:r>
                <a:rPr sz="1100" kern="0" spc="3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定位（里程计模型</a:t>
              </a:r>
              <a:r>
                <a:rPr sz="1100" kern="0" spc="2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改 </a:t>
              </a:r>
              <a:r>
                <a:rPr sz="1100" kern="0" spc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omni</a:t>
              </a:r>
              <a:r>
                <a:rPr sz="1100" kern="0" spc="2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r>
                <a:rPr sz="1100" kern="0" spc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sz="1100" kern="0" spc="15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move_base</a:t>
              </a:r>
              <a:r>
                <a:rPr sz="1100" kern="0" spc="15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sz="1100" kern="0" spc="13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100" kern="0" spc="-1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DWA。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tabLst>
                  <a:tab pos="132080" algn="l"/>
                </a:tabLst>
              </a:pPr>
              <a:r>
                <a:rPr sz="1100" b="1" kern="0" spc="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700" b="1" kern="0" spc="30" baseline="-1000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</a:t>
              </a:r>
              <a:r>
                <a:rPr sz="1100" b="1" kern="0" spc="3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1300" b="1" kern="0" spc="3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任务与感知层</a:t>
              </a:r>
              <a:endParaRPr sz="1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448310" indent="4445" algn="l" rtl="0" eaLnBrk="0">
                <a:lnSpc>
                  <a:spcPct val="139000"/>
                </a:lnSpc>
                <a:spcBef>
                  <a:spcPts val="415"/>
                </a:spcBef>
              </a:pPr>
              <a:r>
                <a:rPr sz="1100" kern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巡检节点按任务点触发灯控观察、人偶检测和车牌抓拍，并记录任务事件与识别结果。语音节点可作为展示辅助功能。</a:t>
              </a:r>
              <a:endParaRPr sz="1100" kern="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ts val="1820"/>
                </a:lnSpc>
                <a:spcBef>
                  <a:spcPts val="985"/>
                </a:spcBef>
                <a:tabLst>
                  <a:tab pos="128905" algn="l"/>
                </a:tabLst>
              </a:pPr>
              <a:r>
                <a:rPr sz="1100" b="1" kern="0" spc="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700" b="1" kern="0" spc="30" baseline="-1100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</a:t>
              </a:r>
              <a:r>
                <a:rPr sz="1100" b="1" kern="0" spc="30" dirty="0">
                  <a:solidFill>
                    <a:srgbClr val="1E4F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1300" b="1" kern="0" spc="3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外部</a:t>
              </a:r>
              <a:r>
                <a:rPr lang="zh-CN" sz="1300" b="1" kern="0" spc="3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推理</a:t>
              </a:r>
              <a:r>
                <a:rPr sz="1300" b="1" kern="0" spc="3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</a:t>
              </a:r>
              <a:r>
                <a:rPr sz="1300" b="1" kern="0" spc="20" dirty="0">
                  <a:solidFill>
                    <a:srgbClr val="1A223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务</a:t>
              </a:r>
              <a:endParaRPr sz="1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452120" indent="12065" algn="l" rtl="0" eaLnBrk="0">
                <a:lnSpc>
                  <a:spcPct val="146000"/>
                </a:lnSpc>
                <a:spcBef>
                  <a:spcPts val="230"/>
                </a:spcBef>
              </a:pPr>
              <a:r>
                <a:rPr sz="1100" kern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人偶 YOLO 和车牌 EasyOCR 在宿主机 Python 3 环境运行；ROS 桥</a:t>
              </a:r>
              <a:r>
                <a:rPr lang="en-US" sz="1100" kern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      </a:t>
              </a:r>
              <a:r>
                <a:rPr sz="1100" kern="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接通过 HTTP 传送图像并接收 JSON 结果。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8" name="textbox 98"/>
          <p:cNvSpPr/>
          <p:nvPr/>
        </p:nvSpPr>
        <p:spPr>
          <a:xfrm>
            <a:off x="7204710" y="876300"/>
            <a:ext cx="4838065" cy="1104900"/>
          </a:xfrm>
          <a:prstGeom prst="rect">
            <a:avLst/>
          </a:pr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4465" algn="l" rtl="0" eaLnBrk="0">
              <a:lnSpc>
                <a:spcPts val="2090"/>
              </a:lnSpc>
              <a:spcBef>
                <a:spcPts val="5"/>
              </a:spcBef>
            </a:pP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四层结构，通过 ROS 话题与 HTTP 桥接协作。里程计巡检和导航巡检共用 23 点任务清单，运行时选择其中一个运动入口。</a:t>
            </a:r>
            <a:endParaRPr sz="1500" b="1" kern="0" spc="5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7204710" y="5576570"/>
            <a:ext cx="4838065" cy="609600"/>
            <a:chOff x="0" y="0"/>
            <a:chExt cx="5067300" cy="609600"/>
          </a:xfrm>
        </p:grpSpPr>
        <p:sp>
          <p:nvSpPr>
            <p:cNvPr id="100" name="rect 100"/>
            <p:cNvSpPr/>
            <p:nvPr/>
          </p:nvSpPr>
          <p:spPr>
            <a:xfrm>
              <a:off x="0" y="0"/>
              <a:ext cx="5067300" cy="609600"/>
            </a:xfrm>
            <a:prstGeom prst="rect">
              <a:avLst/>
            </a:prstGeom>
            <a:solidFill>
              <a:srgbClr val="FFF3D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" name="textbox 102"/>
            <p:cNvSpPr/>
            <p:nvPr/>
          </p:nvSpPr>
          <p:spPr>
            <a:xfrm>
              <a:off x="293822" y="102783"/>
              <a:ext cx="4550409" cy="4489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72" rIns="0" bIns="0"/>
            <a:lstStyle/>
            <a:p>
              <a:pPr marL="13970" indent="-1270" algn="l" rtl="0" eaLnBrk="0">
                <a:lnSpc>
                  <a:spcPct val="130000"/>
                </a:lnSpc>
                <a:spcBef>
                  <a:spcPts val="0"/>
                </a:spcBef>
              </a:pPr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每轮只启动一个运动控制入口，避免 /</a:t>
              </a:r>
              <a:r>
                <a:rPr lang="en-US" altLang="zh-CN" sz="11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cmd_vel </a:t>
              </a:r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控制冲突；已记录的连续整圈采用里程计巡检模式。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rect 104"/>
            <p:cNvSpPr/>
            <p:nvPr/>
          </p:nvSpPr>
          <p:spPr>
            <a:xfrm>
              <a:off x="134111" y="266700"/>
              <a:ext cx="76200" cy="76200"/>
            </a:xfrm>
            <a:prstGeom prst="rect">
              <a:avLst/>
            </a:prstGeom>
            <a:solidFill>
              <a:srgbClr val="D953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textbox 106"/>
          <p:cNvSpPr/>
          <p:nvPr/>
        </p:nvSpPr>
        <p:spPr>
          <a:xfrm>
            <a:off x="407739" y="6309926"/>
            <a:ext cx="11370944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智慧社区复赛答辩 · close_ai </a:t>
            </a:r>
            <a:r>
              <a:rPr sz="1000" kern="0" spc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05/16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410845" y="379730"/>
            <a:ext cx="6989445" cy="360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500" b="1" kern="0" spc="3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系统总体架构：</a:t>
            </a:r>
            <a:r>
              <a:rPr sz="2500" b="1" kern="0" spc="-44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3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仿真、任务执行与视觉服务</a:t>
            </a:r>
            <a:endParaRPr sz="2500">
              <a:sym typeface="+mn-ea"/>
            </a:endParaRPr>
          </a:p>
          <a:p>
            <a:pPr marL="12700" algn="l" rtl="0" eaLnBrk="0">
              <a:lnSpc>
                <a:spcPct val="88000"/>
              </a:lnSpc>
            </a:pP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path 110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9074785" y="161925"/>
            <a:ext cx="4655820" cy="610870"/>
            <a:chOff x="14688" y="261"/>
            <a:chExt cx="7332" cy="962"/>
          </a:xfrm>
        </p:grpSpPr>
        <p:sp>
          <p:nvSpPr>
            <p:cNvPr id="176" name="1"/>
            <p:cNvSpPr/>
            <p:nvPr>
              <p:custDataLst>
                <p:tags r:id="rId3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6348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4522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2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赛题理解与总体方案</a:t>
              </a:r>
              <a:endParaRPr sz="2000" kern="0" spc="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exec-e10cc41a-a3c9-429c-b1cc-fda557be261c"/>
          <p:cNvPicPr>
            <a:picLocks noChangeAspect="1"/>
          </p:cNvPicPr>
          <p:nvPr/>
        </p:nvPicPr>
        <p:blipFill>
          <a:blip r:embed="rId1"/>
          <a:srcRect l="-1493" t="2565" r="20116"/>
          <a:stretch>
            <a:fillRect/>
          </a:stretch>
        </p:blipFill>
        <p:spPr>
          <a:xfrm>
            <a:off x="3205480" y="0"/>
            <a:ext cx="8986520" cy="6682105"/>
          </a:xfrm>
          <a:prstGeom prst="rect">
            <a:avLst/>
          </a:prstGeom>
        </p:spPr>
      </p:pic>
      <p:sp>
        <p:nvSpPr>
          <p:cNvPr id="44" name="rect 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86000">
                <a:srgbClr val="023355">
                  <a:alpha val="70000"/>
                </a:srgbClr>
              </a:gs>
              <a:gs pos="0">
                <a:srgbClr val="082050"/>
              </a:gs>
              <a:gs pos="61000">
                <a:srgbClr val="023355"/>
              </a:gs>
              <a:gs pos="0">
                <a:srgbClr val="0E0C4B"/>
              </a:gs>
              <a:gs pos="100000">
                <a:srgbClr val="070948">
                  <a:alpha val="28000"/>
                </a:srgbClr>
              </a:gs>
            </a:gsLst>
            <a:lin ang="0" scaled="0"/>
          </a:gradFill>
          <a:ln w="0" cap="flat">
            <a:noFill/>
            <a:prstDash val="solid"/>
            <a:miter lim="0"/>
          </a:ln>
          <a:effectLst>
            <a:outerShdw dist="50800" dir="5400000" algn="ctr" rotWithShape="0">
              <a:srgbClr val="000000">
                <a:alpha val="43000"/>
              </a:srgbClr>
            </a:outerShdw>
          </a:effectLst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139700" y="6051550"/>
            <a:ext cx="12449175" cy="9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textbox 116"/>
          <p:cNvSpPr/>
          <p:nvPr/>
        </p:nvSpPr>
        <p:spPr>
          <a:xfrm>
            <a:off x="7578343" y="2850261"/>
            <a:ext cx="4805045" cy="530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>
            <a:outerShdw blurRad="4445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1550"/>
              </a:lnSpc>
            </a:pPr>
            <a:r>
              <a:rPr sz="31400" b="1" kern="0" spc="-560" dirty="0">
                <a:solidFill>
                  <a:srgbClr val="17499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711200" y="2263614"/>
            <a:ext cx="5013325" cy="232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5785" algn="l" rtl="0" eaLnBrk="0">
              <a:lnSpc>
                <a:spcPts val="1660"/>
              </a:lnSpc>
              <a:tabLst>
                <a:tab pos="743585" algn="l"/>
              </a:tabLst>
            </a:pP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C</a:t>
            </a:r>
            <a:r>
              <a:rPr sz="1200" kern="0" spc="4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</a:t>
            </a:r>
            <a:r>
              <a:rPr sz="1200" kern="0" spc="4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PT</a:t>
            </a:r>
            <a:r>
              <a:rPr sz="1200" kern="0" spc="4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sz="1200" kern="0" spc="4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kern="0" spc="4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</a:t>
            </a:r>
            <a:r>
              <a:rPr sz="1200" kern="0" spc="-2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4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87000"/>
              </a:lnSpc>
              <a:spcBef>
                <a:spcPts val="1150"/>
              </a:spcBef>
            </a:pPr>
            <a:r>
              <a:rPr sz="3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仿真场地</a:t>
            </a:r>
            <a:r>
              <a:rPr sz="3800" b="1" kern="0" spc="4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建图</a:t>
            </a:r>
            <a:r>
              <a:rPr sz="3800" b="1" kern="0" spc="3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导航</a:t>
            </a:r>
            <a:endParaRPr sz="3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ts val="1935"/>
              </a:lnSpc>
              <a:spcBef>
                <a:spcPts val="460"/>
              </a:spcBef>
              <a:tabLst>
                <a:tab pos="224790" algn="l"/>
              </a:tabLst>
            </a:pP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500" kern="0" spc="-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场地：4.2</a:t>
            </a:r>
            <a:r>
              <a:rPr sz="1500" kern="0" spc="27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4.2</a:t>
            </a:r>
            <a:r>
              <a:rPr sz="1500" kern="0" spc="1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1500" kern="0" spc="-2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，行车道净宽 0.6</a:t>
            </a:r>
            <a:r>
              <a:rPr sz="1500" kern="0" spc="1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935"/>
              </a:lnSpc>
              <a:spcBef>
                <a:spcPts val="1065"/>
              </a:spcBef>
              <a:tabLst>
                <a:tab pos="224790" algn="l"/>
              </a:tabLst>
            </a:pP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500" kern="0" spc="-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建图</a:t>
            </a:r>
            <a:r>
              <a:rPr sz="1500" kern="0" spc="-1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：GMapping</a:t>
            </a:r>
            <a:r>
              <a:rPr sz="1500" kern="0" spc="-2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，探明率 97.2%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ts val="1935"/>
              </a:lnSpc>
              <a:tabLst>
                <a:tab pos="224790" algn="l"/>
              </a:tabLst>
            </a:pP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5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导航：41 个目标点</a:t>
            </a:r>
            <a:r>
              <a:rPr sz="1500" kern="0" spc="-2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，航线全长</a:t>
            </a:r>
            <a:r>
              <a:rPr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27.6</a:t>
            </a:r>
            <a:r>
              <a:rPr sz="1500" kern="0" spc="1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-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path 120"/>
          <p:cNvSpPr/>
          <p:nvPr/>
        </p:nvSpPr>
        <p:spPr>
          <a:xfrm>
            <a:off x="723900" y="44196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path 122"/>
          <p:cNvSpPr/>
          <p:nvPr/>
        </p:nvSpPr>
        <p:spPr>
          <a:xfrm>
            <a:off x="723900" y="40386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" name="path 124"/>
          <p:cNvSpPr/>
          <p:nvPr/>
        </p:nvSpPr>
        <p:spPr>
          <a:xfrm>
            <a:off x="723900" y="36576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" name="path 126"/>
          <p:cNvSpPr/>
          <p:nvPr/>
        </p:nvSpPr>
        <p:spPr>
          <a:xfrm>
            <a:off x="723900" y="2362200"/>
            <a:ext cx="553211" cy="47244"/>
          </a:xfrm>
          <a:custGeom>
            <a:avLst/>
            <a:gdLst/>
            <a:ahLst/>
            <a:cxnLst/>
            <a:rect l="0" t="0" r="0" b="0"/>
            <a:pathLst>
              <a:path w="871" h="74">
                <a:moveTo>
                  <a:pt x="0" y="0"/>
                </a:moveTo>
                <a:lnTo>
                  <a:pt x="871" y="0"/>
                </a:lnTo>
                <a:lnTo>
                  <a:pt x="871" y="74"/>
                </a:lnTo>
                <a:lnTo>
                  <a:pt x="0" y="74"/>
                </a:lnTo>
                <a:lnTo>
                  <a:pt x="0" y="0"/>
                </a:lnTo>
                <a:close/>
              </a:path>
            </a:pathLst>
          </a:custGeom>
          <a:solidFill>
            <a:srgbClr val="FFC10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4"/>
          <p:cNvSpPr/>
          <p:nvPr/>
        </p:nvSpPr>
        <p:spPr>
          <a:xfrm>
            <a:off x="411591" y="312649"/>
            <a:ext cx="6490970" cy="45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370"/>
              </a:lnSpc>
            </a:pPr>
            <a:r>
              <a:rPr sz="2500" b="1" kern="0" spc="2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仿真场景：分区、目标与观察位</a:t>
            </a:r>
            <a:endParaRPr sz="2500">
              <a:sym typeface="+mn-ea"/>
            </a:endParaRPr>
          </a:p>
          <a:p>
            <a:pPr marL="12700" algn="l" rtl="0" eaLnBrk="0">
              <a:lnSpc>
                <a:spcPts val="3370"/>
              </a:lnSpc>
            </a:pP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path 154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8697595" y="245110"/>
            <a:ext cx="4655820" cy="610870"/>
            <a:chOff x="14688" y="261"/>
            <a:chExt cx="7332" cy="962"/>
          </a:xfrm>
        </p:grpSpPr>
        <p:sp>
          <p:nvSpPr>
            <p:cNvPr id="176" name="1"/>
            <p:cNvSpPr/>
            <p:nvPr>
              <p:custDataLst>
                <p:tags r:id="rId1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6348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4722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02 仿真场地 ·</a:t>
              </a:r>
              <a:r>
                <a:rPr sz="2000" kern="0" spc="2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建图</a:t>
              </a:r>
              <a:r>
                <a:rPr sz="2000" kern="0" spc="7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·</a:t>
              </a:r>
              <a:r>
                <a:rPr sz="2000" kern="0" spc="3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导航</a:t>
              </a:r>
              <a:endPara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0000"/>
                </a:lnSpc>
              </a:pPr>
              <a:endParaRPr sz="2000" kern="0" spc="2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76885" y="1342390"/>
            <a:ext cx="11009630" cy="3026410"/>
            <a:chOff x="936" y="2016"/>
            <a:chExt cx="17338" cy="4766"/>
          </a:xfrm>
        </p:grpSpPr>
        <p:sp>
          <p:nvSpPr>
            <p:cNvPr id="9" name="Rectangle 8"/>
            <p:cNvSpPr/>
            <p:nvPr/>
          </p:nvSpPr>
          <p:spPr>
            <a:xfrm>
              <a:off x="936" y="2016"/>
              <a:ext cx="8640" cy="4766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 w="10795">
              <a:solidFill>
                <a:srgbClr val="C8D5E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Ins="182880" rtlCol="0" anchor="ctr"/>
            <a:lstStyle/>
            <a:p>
              <a:pPr algn="ctr">
                <a:defRPr sz="1500" b="1">
                  <a:solidFill>
                    <a:srgbClr val="506076"/>
                  </a:solidFill>
                  <a:latin typeface="微软雅黑" panose="020B0503020204020204" charset="-122"/>
                </a:defRPr>
              </a:p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9821" y="2016"/>
              <a:ext cx="8453" cy="224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 w="10795">
              <a:solidFill>
                <a:srgbClr val="C8D5E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Ins="182880" rtlCol="0" anchor="ctr"/>
            <a:lstStyle/>
            <a:p>
              <a:pPr algn="ctr">
                <a:defRPr sz="1500" b="1">
                  <a:solidFill>
                    <a:srgbClr val="506076"/>
                  </a:solidFill>
                  <a:latin typeface="微软雅黑" panose="020B0503020204020204" charset="-122"/>
                </a:defRPr>
              </a:p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821" y="4536"/>
              <a:ext cx="4061" cy="2246"/>
            </a:xfrm>
            <a:prstGeom prst="rect">
              <a:avLst/>
            </a:prstGeom>
            <a:blipFill rotWithShape="1">
              <a:blip r:embed="rId4"/>
              <a:stretch>
                <a:fillRect/>
              </a:stretch>
            </a:blipFill>
            <a:ln w="10795">
              <a:solidFill>
                <a:srgbClr val="C8D5E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Ins="182880" rtlCol="0" anchor="ctr"/>
            <a:lstStyle/>
            <a:p>
              <a:pPr algn="ctr">
                <a:defRPr sz="1500" b="1">
                  <a:solidFill>
                    <a:srgbClr val="506076"/>
                  </a:solidFill>
                  <a:latin typeface="微软雅黑" panose="020B0503020204020204" charset="-122"/>
                </a:defRPr>
              </a:p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170" y="4536"/>
              <a:ext cx="4104" cy="2246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 w="10795">
              <a:solidFill>
                <a:srgbClr val="C8D5E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Ins="182880" rtlCol="0" anchor="ctr"/>
            <a:lstStyle/>
            <a:p>
              <a:pPr algn="ctr">
                <a:defRPr sz="1500" b="1">
                  <a:solidFill>
                    <a:srgbClr val="506076"/>
                  </a:solidFill>
                  <a:latin typeface="微软雅黑" panose="020B0503020204020204" charset="-122"/>
                </a:defRPr>
              </a:p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11480" y="6090920"/>
            <a:ext cx="6096000" cy="485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智慧社区复赛答辩 · close_ai </a:t>
            </a:r>
            <a:r>
              <a:rPr sz="1000" kern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/16</a:t>
            </a:r>
            <a:endParaRPr lang="zh-CN" altLang="en-US" sz="1100" b="1" kern="0" spc="30" dirty="0">
              <a:solidFill>
                <a:srgbClr val="1E4F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885" y="885825"/>
            <a:ext cx="8293100" cy="281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06076"/>
                </a:solidFill>
                <a:latin typeface="微软雅黑" panose="020B0503020204020204" charset="-122"/>
              </a:defRPr>
            </a:pPr>
            <a:r>
              <a:rPr lang="en-US" altLang="zh-CN" sz="1600">
                <a:sym typeface="+mn-ea"/>
              </a:rPr>
              <a:t>4.2 m × 4.2 m </a:t>
            </a:r>
            <a:r>
              <a:rPr lang="zh-CN" altLang="en-US" sz="1600">
                <a:sym typeface="+mn-ea"/>
              </a:rPr>
              <a:t>社区场地，以净宽约 0.6 </a:t>
            </a:r>
            <a:r>
              <a:rPr lang="en-US" altLang="zh-CN" sz="1600">
                <a:sym typeface="+mn-ea"/>
              </a:rPr>
              <a:t>m </a:t>
            </a:r>
            <a:r>
              <a:rPr lang="zh-CN" altLang="en-US" sz="1600">
                <a:sym typeface="+mn-ea"/>
              </a:rPr>
              <a:t>的道路连接人物区域、灯控路口与停车区</a:t>
            </a:r>
            <a:endParaRPr lang="zh-CN" altLang="en-US" sz="1600">
              <a:sym typeface="+mn-ea"/>
            </a:endParaRPr>
          </a:p>
        </p:txBody>
      </p:sp>
      <p:sp>
        <p:nvSpPr>
          <p:cNvPr id="62" name="path 62"/>
          <p:cNvSpPr/>
          <p:nvPr/>
        </p:nvSpPr>
        <p:spPr>
          <a:xfrm>
            <a:off x="419100" y="914400"/>
            <a:ext cx="57912" cy="248411"/>
          </a:xfrm>
          <a:custGeom>
            <a:avLst/>
            <a:gdLst/>
            <a:ahLst/>
            <a:cxnLst/>
            <a:rect l="0" t="0" r="0" b="0"/>
            <a:pathLst>
              <a:path w="91" h="391">
                <a:moveTo>
                  <a:pt x="0" y="0"/>
                </a:moveTo>
                <a:lnTo>
                  <a:pt x="91" y="0"/>
                </a:lnTo>
                <a:lnTo>
                  <a:pt x="91" y="391"/>
                </a:lnTo>
                <a:lnTo>
                  <a:pt x="0" y="391"/>
                </a:lnTo>
                <a:lnTo>
                  <a:pt x="0" y="0"/>
                </a:lnTo>
                <a:close/>
              </a:path>
            </a:pathLst>
          </a:custGeom>
          <a:solidFill>
            <a:srgbClr val="1E4FA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476885" y="4542790"/>
            <a:ext cx="11009630" cy="1486535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813816" y="4709160"/>
            <a:ext cx="2093976" cy="294640"/>
          </a:xfrm>
          <a:prstGeom prst="rect">
            <a:avLst/>
          </a:prstGeom>
          <a:noFill/>
        </p:spPr>
        <p:txBody>
          <a:bodyPr wrap="square" lIns="13716" tIns="9144" rIns="13716" bIns="9144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06076"/>
                </a:solidFill>
                <a:latin typeface="微软雅黑" panose="020B0503020204020204" charset="-122"/>
              </a:defRPr>
            </a:pPr>
            <a:r>
              <a:rPr sz="1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人物布置</a:t>
            </a:r>
            <a:endParaRPr sz="1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805815" y="5053965"/>
            <a:ext cx="1617980" cy="717550"/>
          </a:xfrm>
          <a:prstGeom prst="rect">
            <a:avLst/>
          </a:prstGeom>
          <a:noFill/>
        </p:spPr>
        <p:txBody>
          <a:bodyPr wrap="square" lIns="13716" tIns="9144" rIns="13716" bIns="9144">
            <a:no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14F9D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18 </a:t>
            </a:r>
            <a:r>
              <a:rPr sz="2000">
                <a:solidFill>
                  <a:schemeClr val="bg1"/>
                </a:solidFill>
              </a:rPr>
              <a:t>个</a:t>
            </a:r>
            <a:endParaRPr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14F9D"/>
                </a:solidFill>
                <a:latin typeface="微软雅黑" panose="020B0503020204020204" charset="-122"/>
              </a:defRPr>
            </a:pPr>
            <a:r>
              <a:rPr lang="zh-CN" altLang="en-US" sz="1200" b="0">
                <a:solidFill>
                  <a:schemeClr val="bg1"/>
                </a:solidFill>
              </a:rPr>
              <a:t>16 名社区人员、2 名非社区人员</a:t>
            </a:r>
            <a:endParaRPr lang="zh-CN" altLang="en-US" sz="1200" b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3374136" y="4709160"/>
            <a:ext cx="2093976" cy="294640"/>
          </a:xfrm>
          <a:prstGeom prst="rect">
            <a:avLst/>
          </a:prstGeom>
          <a:noFill/>
        </p:spPr>
        <p:txBody>
          <a:bodyPr wrap="square" lIns="13716" tIns="9144" rIns="13716" bIns="9144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06076"/>
                </a:solidFill>
                <a:latin typeface="微软雅黑" panose="020B0503020204020204" charset="-122"/>
              </a:defRPr>
            </a:pPr>
            <a:r>
              <a:rPr sz="1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人物观察点</a:t>
            </a:r>
            <a:endParaRPr sz="1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3365881" y="5053711"/>
            <a:ext cx="2093976" cy="820420"/>
          </a:xfrm>
          <a:prstGeom prst="rect">
            <a:avLst/>
          </a:prstGeom>
          <a:noFill/>
        </p:spPr>
        <p:txBody>
          <a:bodyPr wrap="square" lIns="13716" tIns="9144" rIns="13716" bIns="9144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14F9D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9 </a:t>
            </a:r>
            <a:r>
              <a:rPr sz="2000">
                <a:solidFill>
                  <a:schemeClr val="bg1"/>
                </a:solidFill>
              </a:rPr>
              <a:t>处</a:t>
            </a:r>
            <a:endParaRPr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14F9D"/>
                </a:solidFill>
                <a:latin typeface="微软雅黑" panose="020B0503020204020204" charset="-122"/>
              </a:defRPr>
            </a:pPr>
            <a:r>
              <a:rPr lang="zh-CN" altLang="en-US" sz="1200" b="0">
                <a:solidFill>
                  <a:schemeClr val="bg1"/>
                </a:solidFill>
              </a:rPr>
              <a:t>覆盖</a:t>
            </a:r>
            <a:r>
              <a:rPr lang="en-US" altLang="zh-CN" sz="1200" b="0">
                <a:solidFill>
                  <a:schemeClr val="bg1"/>
                </a:solidFill>
              </a:rPr>
              <a:t>A/B</a:t>
            </a:r>
            <a:r>
              <a:rPr lang="zh-CN" altLang="en-US" sz="1200" b="0">
                <a:solidFill>
                  <a:schemeClr val="bg1"/>
                </a:solidFill>
                <a:ea typeface="宋体" panose="02010600030101010101" pitchFamily="2" charset="-122"/>
              </a:rPr>
              <a:t>街，</a:t>
            </a:r>
            <a:r>
              <a:rPr lang="zh-CN" altLang="en-US" sz="1200" b="0">
                <a:solidFill>
                  <a:schemeClr val="bg1"/>
                </a:solidFill>
              </a:rPr>
              <a:t>提供不同距离与朝向的观察视角</a:t>
            </a:r>
            <a:endParaRPr lang="zh-CN" altLang="en-US" sz="1200" b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5952744" y="4709160"/>
            <a:ext cx="2093976" cy="294640"/>
          </a:xfrm>
          <a:prstGeom prst="rect">
            <a:avLst/>
          </a:prstGeom>
          <a:noFill/>
        </p:spPr>
        <p:txBody>
          <a:bodyPr wrap="square" lIns="13716" tIns="9144" rIns="13716" bIns="9144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06076"/>
                </a:solidFill>
                <a:latin typeface="微软雅黑" panose="020B0503020204020204" charset="-122"/>
              </a:defRPr>
            </a:pPr>
            <a:r>
              <a:rPr sz="1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灯控点</a:t>
            </a:r>
            <a:endParaRPr sz="1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5944489" y="5053711"/>
            <a:ext cx="2093976" cy="820420"/>
          </a:xfrm>
          <a:prstGeom prst="rect">
            <a:avLst/>
          </a:prstGeom>
          <a:noFill/>
        </p:spPr>
        <p:txBody>
          <a:bodyPr wrap="square" lIns="13716" tIns="9144" rIns="13716" bIns="9144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14F9D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2 </a:t>
            </a:r>
            <a:r>
              <a:rPr sz="2000">
                <a:solidFill>
                  <a:schemeClr val="bg1"/>
                </a:solidFill>
              </a:rPr>
              <a:t>处</a:t>
            </a:r>
            <a:endParaRPr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14F9D"/>
                </a:solidFill>
                <a:latin typeface="微软雅黑" panose="020B0503020204020204" charset="-122"/>
              </a:defRPr>
            </a:pPr>
            <a:r>
              <a:rPr lang="zh-CN" altLang="en-US" sz="1200" b="0">
                <a:solidFill>
                  <a:schemeClr val="bg1"/>
                </a:solidFill>
              </a:rPr>
              <a:t>当前路线在上、下路口各经过一次</a:t>
            </a:r>
            <a:endParaRPr lang="zh-CN" altLang="en-US" sz="1200" b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>
            <p:custDataLst>
              <p:tags r:id="rId13"/>
            </p:custDataLst>
          </p:nvPr>
        </p:nvSpPr>
        <p:spPr>
          <a:xfrm>
            <a:off x="8513064" y="4709160"/>
            <a:ext cx="2093976" cy="294640"/>
          </a:xfrm>
          <a:prstGeom prst="rect">
            <a:avLst/>
          </a:prstGeom>
          <a:noFill/>
        </p:spPr>
        <p:txBody>
          <a:bodyPr wrap="square" lIns="13716" tIns="9144" rIns="13716" bIns="9144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06076"/>
                </a:solidFill>
                <a:latin typeface="微软雅黑" panose="020B0503020204020204" charset="-122"/>
              </a:defRPr>
            </a:pPr>
            <a:r>
              <a:rPr sz="1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停车位</a:t>
            </a:r>
            <a:endParaRPr sz="1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4"/>
            </p:custDataLst>
          </p:nvPr>
        </p:nvSpPr>
        <p:spPr>
          <a:xfrm>
            <a:off x="8504809" y="5053711"/>
            <a:ext cx="2093976" cy="820420"/>
          </a:xfrm>
          <a:prstGeom prst="rect">
            <a:avLst/>
          </a:prstGeom>
          <a:noFill/>
        </p:spPr>
        <p:txBody>
          <a:bodyPr wrap="square" lIns="13716" tIns="9144" rIns="13716" bIns="9144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14F9D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3 </a:t>
            </a:r>
            <a:r>
              <a:rPr sz="2000">
                <a:solidFill>
                  <a:schemeClr val="bg1"/>
                </a:solidFill>
              </a:rPr>
              <a:t>处</a:t>
            </a:r>
            <a:endParaRPr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14F9D"/>
                </a:solidFill>
                <a:latin typeface="微软雅黑" panose="020B0503020204020204" charset="-122"/>
              </a:defRPr>
            </a:pPr>
            <a:r>
              <a:rPr lang="zh-CN" altLang="en-US" sz="1200" b="0">
                <a:solidFill>
                  <a:schemeClr val="bg1"/>
                </a:solidFill>
              </a:rPr>
              <a:t>三个车位分别对应 </a:t>
            </a:r>
            <a:r>
              <a:rPr lang="en-US" altLang="zh-CN" sz="1200" b="0">
                <a:solidFill>
                  <a:schemeClr val="bg1"/>
                </a:solidFill>
              </a:rPr>
              <a:t>CAR_1、CAR_2、CAR_3 </a:t>
            </a:r>
            <a:r>
              <a:rPr lang="zh-CN" altLang="en-US" sz="1200" b="0">
                <a:solidFill>
                  <a:schemeClr val="bg1"/>
                </a:solidFill>
              </a:rPr>
              <a:t>车牌抓拍点</a:t>
            </a:r>
            <a:endParaRPr lang="zh-CN" altLang="en-US" sz="1200" b="0">
              <a:solidFill>
                <a:schemeClr val="bg1"/>
              </a:solidFill>
            </a:endParaRPr>
          </a:p>
        </p:txBody>
      </p:sp>
      <p:sp>
        <p:nvSpPr>
          <p:cNvPr id="5" name="平行四边形 4"/>
          <p:cNvSpPr/>
          <p:nvPr/>
        </p:nvSpPr>
        <p:spPr>
          <a:xfrm>
            <a:off x="2763520" y="3811270"/>
            <a:ext cx="3497580" cy="647700"/>
          </a:xfrm>
          <a:prstGeom prst="parallelogram">
            <a:avLst/>
          </a:prstGeom>
          <a:solidFill>
            <a:schemeClr val="bg1">
              <a:lumMod val="95000"/>
              <a:alpha val="72000"/>
            </a:schemeClr>
          </a:solidFill>
          <a:ln>
            <a:noFill/>
          </a:ln>
          <a:effectLst>
            <a:outerShdw blurRad="50800" dist="50800" dir="5400000" algn="ctr" rotWithShape="0">
              <a:schemeClr val="accent1">
                <a:alpha val="9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场地全景｜道路串联 A/B 街、两处灯控路口与停车区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平行四边形 5"/>
          <p:cNvSpPr/>
          <p:nvPr/>
        </p:nvSpPr>
        <p:spPr>
          <a:xfrm>
            <a:off x="8512810" y="2229485"/>
            <a:ext cx="3557270" cy="574675"/>
          </a:xfrm>
          <a:prstGeom prst="parallelogram">
            <a:avLst/>
          </a:prstGeom>
          <a:solidFill>
            <a:schemeClr val="bg1">
              <a:lumMod val="95000"/>
              <a:alpha val="81000"/>
            </a:schemeClr>
          </a:solidFill>
          <a:ln>
            <a:noFill/>
          </a:ln>
          <a:effectLst>
            <a:outerShdw blurRad="50800" dist="50800" dir="5400000" algn="ctr" rotWithShape="0">
              <a:schemeClr val="accent1">
                <a:alpha val="9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灯控路口｜机器人在停止线前观察灯态，确认放行后通行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6733540" y="3865880"/>
            <a:ext cx="2146935" cy="565150"/>
          </a:xfrm>
          <a:prstGeom prst="parallelogram">
            <a:avLst/>
          </a:prstGeom>
          <a:solidFill>
            <a:schemeClr val="bg1">
              <a:lumMod val="95000"/>
              <a:alpha val="81000"/>
            </a:schemeClr>
          </a:solidFill>
          <a:ln>
            <a:noFill/>
          </a:ln>
          <a:effectLst>
            <a:outerShdw blurRad="50800" dist="50800" dir="5400000" algn="ctr" rotWithShape="0">
              <a:schemeClr val="accent1">
                <a:alpha val="9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人物区域｜立牌分布在 A/B 街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9408160" y="3865880"/>
            <a:ext cx="2740660" cy="537210"/>
          </a:xfrm>
          <a:prstGeom prst="parallelogram">
            <a:avLst/>
          </a:prstGeom>
          <a:solidFill>
            <a:schemeClr val="bg1">
              <a:lumMod val="95000"/>
              <a:alpha val="81000"/>
            </a:schemeClr>
          </a:solidFill>
          <a:ln>
            <a:noFill/>
          </a:ln>
          <a:effectLst>
            <a:outerShdw blurRad="50800" dist="50800" dir="5400000" algn="ctr" rotWithShape="0">
              <a:schemeClr val="accent1">
                <a:alpha val="9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停车区域｜三个车位分别对应 车牌抓拍点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8" name="任意多边形: 形状 149"/>
          <p:cNvSpPr/>
          <p:nvPr>
            <p:custDataLst>
              <p:tags r:id="rId15"/>
            </p:custDataLst>
          </p:nvPr>
        </p:nvSpPr>
        <p:spPr>
          <a:xfrm rot="21600000">
            <a:off x="702310" y="4619625"/>
            <a:ext cx="1990725" cy="1302385"/>
          </a:xfrm>
          <a:custGeom>
            <a:avLst/>
            <a:gdLst>
              <a:gd name="connsiteX0" fmla="*/ 0 w 1524000"/>
              <a:gd name="connsiteY0" fmla="*/ 0 h 2955321"/>
              <a:gd name="connsiteX1" fmla="*/ 1524000 w 1524000"/>
              <a:gd name="connsiteY1" fmla="*/ 0 h 2955321"/>
              <a:gd name="connsiteX2" fmla="*/ 1524000 w 1524000"/>
              <a:gd name="connsiteY2" fmla="*/ 2955322 h 2955321"/>
              <a:gd name="connsiteX3" fmla="*/ 0 w 1524000"/>
              <a:gd name="connsiteY3" fmla="*/ 2955322 h 2955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2955321">
                <a:moveTo>
                  <a:pt x="0" y="0"/>
                </a:moveTo>
                <a:lnTo>
                  <a:pt x="1524000" y="0"/>
                </a:lnTo>
                <a:lnTo>
                  <a:pt x="1524000" y="2955322"/>
                </a:lnTo>
                <a:lnTo>
                  <a:pt x="0" y="2955322"/>
                </a:lnTo>
                <a:close/>
              </a:path>
            </a:pathLst>
          </a:custGeom>
          <a:noFill/>
          <a:ln w="31750" cap="flat" cmpd="sng" algn="ctr">
            <a:gradFill>
              <a:gsLst>
                <a:gs pos="49000">
                  <a:srgbClr val="E1BF79">
                    <a:alpha val="0"/>
                  </a:srgbClr>
                </a:gs>
                <a:gs pos="0">
                  <a:srgbClr val="E1BF79">
                    <a:alpha val="80000"/>
                  </a:srgbClr>
                </a:gs>
                <a:gs pos="100000">
                  <a:srgbClr val="E1BF79">
                    <a:alpha val="80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lIns="86868" tIns="43434" rIns="86868" bIns="43434" rtlCol="0" anchor="ctr">
            <a:noAutofit/>
          </a:bodyPr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: 形状 149"/>
          <p:cNvSpPr/>
          <p:nvPr>
            <p:custDataLst>
              <p:tags r:id="rId16"/>
            </p:custDataLst>
          </p:nvPr>
        </p:nvSpPr>
        <p:spPr>
          <a:xfrm rot="21600000">
            <a:off x="3265805" y="4619625"/>
            <a:ext cx="2123440" cy="1305560"/>
          </a:xfrm>
          <a:custGeom>
            <a:avLst/>
            <a:gdLst>
              <a:gd name="connsiteX0" fmla="*/ 0 w 1524000"/>
              <a:gd name="connsiteY0" fmla="*/ 0 h 2955321"/>
              <a:gd name="connsiteX1" fmla="*/ 1524000 w 1524000"/>
              <a:gd name="connsiteY1" fmla="*/ 0 h 2955321"/>
              <a:gd name="connsiteX2" fmla="*/ 1524000 w 1524000"/>
              <a:gd name="connsiteY2" fmla="*/ 2955322 h 2955321"/>
              <a:gd name="connsiteX3" fmla="*/ 0 w 1524000"/>
              <a:gd name="connsiteY3" fmla="*/ 2955322 h 2955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2955321">
                <a:moveTo>
                  <a:pt x="0" y="0"/>
                </a:moveTo>
                <a:lnTo>
                  <a:pt x="1524000" y="0"/>
                </a:lnTo>
                <a:lnTo>
                  <a:pt x="1524000" y="2955322"/>
                </a:lnTo>
                <a:lnTo>
                  <a:pt x="0" y="2955322"/>
                </a:lnTo>
                <a:close/>
              </a:path>
            </a:pathLst>
          </a:custGeom>
          <a:noFill/>
          <a:ln w="31750" cap="flat" cmpd="sng" algn="ctr">
            <a:gradFill>
              <a:gsLst>
                <a:gs pos="49000">
                  <a:srgbClr val="E1BF79">
                    <a:alpha val="0"/>
                  </a:srgbClr>
                </a:gs>
                <a:gs pos="0">
                  <a:srgbClr val="E1BF79">
                    <a:alpha val="80000"/>
                  </a:srgbClr>
                </a:gs>
                <a:gs pos="100000">
                  <a:srgbClr val="E1BF79">
                    <a:alpha val="80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lIns="86868" tIns="43434" rIns="86868" bIns="43434" rtlCol="0" anchor="ctr">
            <a:noAutofit/>
          </a:bodyPr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任意多边形: 形状 149"/>
          <p:cNvSpPr/>
          <p:nvPr>
            <p:custDataLst>
              <p:tags r:id="rId17"/>
            </p:custDataLst>
          </p:nvPr>
        </p:nvSpPr>
        <p:spPr>
          <a:xfrm rot="21600000">
            <a:off x="5747385" y="4619625"/>
            <a:ext cx="2275840" cy="1310005"/>
          </a:xfrm>
          <a:custGeom>
            <a:avLst/>
            <a:gdLst>
              <a:gd name="connsiteX0" fmla="*/ 0 w 1524000"/>
              <a:gd name="connsiteY0" fmla="*/ 0 h 2955321"/>
              <a:gd name="connsiteX1" fmla="*/ 1524000 w 1524000"/>
              <a:gd name="connsiteY1" fmla="*/ 0 h 2955321"/>
              <a:gd name="connsiteX2" fmla="*/ 1524000 w 1524000"/>
              <a:gd name="connsiteY2" fmla="*/ 2955322 h 2955321"/>
              <a:gd name="connsiteX3" fmla="*/ 0 w 1524000"/>
              <a:gd name="connsiteY3" fmla="*/ 2955322 h 2955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2955321">
                <a:moveTo>
                  <a:pt x="0" y="0"/>
                </a:moveTo>
                <a:lnTo>
                  <a:pt x="1524000" y="0"/>
                </a:lnTo>
                <a:lnTo>
                  <a:pt x="1524000" y="2955322"/>
                </a:lnTo>
                <a:lnTo>
                  <a:pt x="0" y="2955322"/>
                </a:lnTo>
                <a:close/>
              </a:path>
            </a:pathLst>
          </a:custGeom>
          <a:noFill/>
          <a:ln w="31750" cap="flat" cmpd="sng" algn="ctr">
            <a:gradFill>
              <a:gsLst>
                <a:gs pos="49000">
                  <a:srgbClr val="E1BF79">
                    <a:alpha val="0"/>
                  </a:srgbClr>
                </a:gs>
                <a:gs pos="0">
                  <a:srgbClr val="E1BF79">
                    <a:alpha val="80000"/>
                  </a:srgbClr>
                </a:gs>
                <a:gs pos="100000">
                  <a:srgbClr val="E1BF79">
                    <a:alpha val="80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lIns="86868" tIns="43434" rIns="86868" bIns="43434" rtlCol="0" anchor="ctr">
            <a:noAutofit/>
          </a:bodyPr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: 形状 149"/>
          <p:cNvSpPr/>
          <p:nvPr>
            <p:custDataLst>
              <p:tags r:id="rId18"/>
            </p:custDataLst>
          </p:nvPr>
        </p:nvSpPr>
        <p:spPr>
          <a:xfrm rot="21600000">
            <a:off x="8381365" y="4619625"/>
            <a:ext cx="2609850" cy="1310005"/>
          </a:xfrm>
          <a:custGeom>
            <a:avLst/>
            <a:gdLst>
              <a:gd name="connsiteX0" fmla="*/ 0 w 1524000"/>
              <a:gd name="connsiteY0" fmla="*/ 0 h 2955321"/>
              <a:gd name="connsiteX1" fmla="*/ 1524000 w 1524000"/>
              <a:gd name="connsiteY1" fmla="*/ 0 h 2955321"/>
              <a:gd name="connsiteX2" fmla="*/ 1524000 w 1524000"/>
              <a:gd name="connsiteY2" fmla="*/ 2955322 h 2955321"/>
              <a:gd name="connsiteX3" fmla="*/ 0 w 1524000"/>
              <a:gd name="connsiteY3" fmla="*/ 2955322 h 2955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2955321">
                <a:moveTo>
                  <a:pt x="0" y="0"/>
                </a:moveTo>
                <a:lnTo>
                  <a:pt x="1524000" y="0"/>
                </a:lnTo>
                <a:lnTo>
                  <a:pt x="1524000" y="2955322"/>
                </a:lnTo>
                <a:lnTo>
                  <a:pt x="0" y="2955322"/>
                </a:lnTo>
                <a:close/>
              </a:path>
            </a:pathLst>
          </a:custGeom>
          <a:noFill/>
          <a:ln w="31750" cap="flat" cmpd="sng" algn="ctr">
            <a:gradFill>
              <a:gsLst>
                <a:gs pos="49000">
                  <a:srgbClr val="E1BF79">
                    <a:alpha val="0"/>
                  </a:srgbClr>
                </a:gs>
                <a:gs pos="0">
                  <a:srgbClr val="E1BF79">
                    <a:alpha val="80000"/>
                  </a:srgbClr>
                </a:gs>
                <a:gs pos="100000">
                  <a:srgbClr val="E1BF79">
                    <a:alpha val="80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</p:spPr>
        <p:txBody>
          <a:bodyPr lIns="86868" tIns="43434" rIns="86868" bIns="43434" rtlCol="0" anchor="ctr">
            <a:noAutofit/>
          </a:bodyPr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Roboto Bold" charset="0"/>
                <a:ea typeface="思源黑体 CN Regular" panose="020B0500000000000000" pitchFamily="34" charset="-122"/>
                <a:cs typeface="+mn-e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12750" y="869950"/>
            <a:ext cx="11366500" cy="5346700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48911" y="952500"/>
            <a:ext cx="7449311" cy="33528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4165600" y="4889500"/>
            <a:ext cx="7613650" cy="1327150"/>
            <a:chOff x="0" y="0"/>
            <a:chExt cx="7613650" cy="1327150"/>
          </a:xfrm>
        </p:grpSpPr>
        <p:sp>
          <p:nvSpPr>
            <p:cNvPr id="162" name="rect 162"/>
            <p:cNvSpPr/>
            <p:nvPr/>
          </p:nvSpPr>
          <p:spPr>
            <a:xfrm>
              <a:off x="0" y="0"/>
              <a:ext cx="7613650" cy="1327150"/>
            </a:xfrm>
            <a:prstGeom prst="rect">
              <a:avLst/>
            </a:prstGeom>
            <a:solidFill>
              <a:srgbClr val="EFF4F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4" name="textbox 164"/>
            <p:cNvSpPr/>
            <p:nvPr/>
          </p:nvSpPr>
          <p:spPr>
            <a:xfrm>
              <a:off x="1385061" y="255569"/>
              <a:ext cx="5968365" cy="8178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970" algn="l" rtl="0" eaLnBrk="0">
                <a:lnSpc>
                  <a:spcPct val="87000"/>
                </a:lnSpc>
              </a:pPr>
              <a:r>
                <a:rPr 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差异集中在障碍边缘与未驶入区域</a:t>
              </a:r>
              <a:endParaRPr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ts val="1550"/>
                </a:lnSpc>
                <a:spcBef>
                  <a:spcPts val="1210"/>
                </a:spcBef>
              </a:pPr>
              <a:r>
                <a:rPr 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343 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个多余障碍格中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293 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个贴在先验障碍边缘，符合障碍边缘被加粗的形态；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4605" algn="l" rtl="0" eaLnBrk="0">
                <a:lnSpc>
                  <a:spcPts val="2020"/>
                </a:lnSpc>
              </a:pPr>
              <a:r>
                <a:rPr 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164 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个未探明格集中在东侧垃圾桶区与场地底边。以上数字可用随包两张地图复算。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66" name="picture 1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52400" y="114300"/>
              <a:ext cx="1098550" cy="1098550"/>
            </a:xfrm>
            <a:prstGeom prst="rect">
              <a:avLst/>
            </a:prstGeom>
          </p:spPr>
        </p:pic>
      </p:grpSp>
      <p:sp>
        <p:nvSpPr>
          <p:cNvPr id="168" name="textbox 168"/>
          <p:cNvSpPr/>
          <p:nvPr/>
        </p:nvSpPr>
        <p:spPr>
          <a:xfrm>
            <a:off x="635635" y="1160780"/>
            <a:ext cx="2914015" cy="1535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ts val="1460"/>
              </a:lnSpc>
            </a:pPr>
            <a:r>
              <a:rPr lang="zh-CN" sz="1100" kern="0" spc="-2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探明率</a:t>
            </a:r>
            <a:endParaRPr sz="1100" kern="0" spc="-20" dirty="0">
              <a:solidFill>
                <a:srgbClr val="8B97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ts val="1460"/>
              </a:lnSpc>
            </a:pPr>
            <a:r>
              <a:rPr 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先验可通行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5920 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格中，已探明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5756 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1435" algn="l" rtl="0" eaLnBrk="0">
              <a:lnSpc>
                <a:spcPts val="10290"/>
              </a:lnSpc>
              <a:spcBef>
                <a:spcPts val="140"/>
              </a:spcBef>
            </a:pPr>
            <a:r>
              <a:rPr sz="7700" b="1" kern="0" spc="10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97.2</a:t>
            </a:r>
            <a:r>
              <a:rPr sz="4600" b="1" kern="0" spc="100" baseline="-900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endParaRPr sz="4600" baseline="-9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411267" y="379818"/>
            <a:ext cx="5527040" cy="357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zh-CN" sz="25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建图结果：实测图与几何先验逐格比对</a:t>
            </a:r>
            <a:endParaRPr lang="zh-CN" sz="25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4637713" y="4341408"/>
            <a:ext cx="6646544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460"/>
              </a:lnSpc>
            </a:pPr>
            <a:r>
              <a:rPr 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SDF 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几何先验图（导航实际加载）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右：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GMapping 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实测图（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92 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</a:t>
            </a:r>
            <a:r>
              <a:rPr lang="en-US" altLang="zh-CN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0.05 m/</a:t>
            </a:r>
            <a:r>
              <a:rPr lang="zh-CN" altLang="en-US"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格）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638444" y="4836669"/>
            <a:ext cx="2285364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100000"/>
              </a:lnSpc>
            </a:pPr>
            <a:r>
              <a:rPr sz="1600" b="1" kern="0" spc="10" dirty="0">
                <a:solidFill>
                  <a:srgbClr val="D9534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0.84%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  <a:spcBef>
                <a:spcPts val="140"/>
              </a:spcBef>
              <a:buClrTx/>
              <a:buSzTx/>
              <a:buFontTx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剩余 50 格偏离先验障碍边缘，需重点复核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636905" y="2912745"/>
            <a:ext cx="2657475" cy="1147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100000"/>
              </a:lnSpc>
            </a:pPr>
            <a:r>
              <a:rPr sz="1600" b="1" kern="0" spc="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2.8%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  <a:spcBef>
                <a:spcPts val="140"/>
              </a:spcBef>
            </a:pP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未探明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164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格，集中在东侧垃圾桶区与场地底边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path 180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" name="textbox 182"/>
          <p:cNvSpPr/>
          <p:nvPr/>
        </p:nvSpPr>
        <p:spPr>
          <a:xfrm>
            <a:off x="635861" y="4169958"/>
            <a:ext cx="291592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343 个多余障碍格中，293 格在先验障碍 2 格以内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643827" y="3874644"/>
            <a:ext cx="661034" cy="30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600" b="1" kern="0" spc="1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85.4%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" name="path 188"/>
          <p:cNvSpPr/>
          <p:nvPr/>
        </p:nvSpPr>
        <p:spPr>
          <a:xfrm>
            <a:off x="638175" y="2756026"/>
            <a:ext cx="705611" cy="47244"/>
          </a:xfrm>
          <a:custGeom>
            <a:avLst/>
            <a:gdLst/>
            <a:ahLst/>
            <a:cxnLst/>
            <a:rect l="0" t="0" r="0" b="0"/>
            <a:pathLst>
              <a:path w="1111" h="74">
                <a:moveTo>
                  <a:pt x="0" y="0"/>
                </a:moveTo>
                <a:lnTo>
                  <a:pt x="1111" y="0"/>
                </a:lnTo>
                <a:lnTo>
                  <a:pt x="1111" y="74"/>
                </a:lnTo>
                <a:lnTo>
                  <a:pt x="0" y="74"/>
                </a:lnTo>
                <a:lnTo>
                  <a:pt x="0" y="0"/>
                </a:lnTo>
                <a:close/>
              </a:path>
            </a:pathLst>
          </a:custGeom>
          <a:solidFill>
            <a:srgbClr val="FFC10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" name="path 190"/>
          <p:cNvSpPr/>
          <p:nvPr/>
        </p:nvSpPr>
        <p:spPr>
          <a:xfrm>
            <a:off x="647700" y="3996435"/>
            <a:ext cx="3086100" cy="9144"/>
          </a:xfrm>
          <a:custGeom>
            <a:avLst/>
            <a:gdLst/>
            <a:ahLst/>
            <a:cxnLst/>
            <a:rect l="0" t="0" r="0" b="0"/>
            <a:pathLst>
              <a:path w="4860" h="14">
                <a:moveTo>
                  <a:pt x="0" y="0"/>
                </a:moveTo>
                <a:lnTo>
                  <a:pt x="4860" y="0"/>
                </a:lnTo>
                <a:lnTo>
                  <a:pt x="4860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>
              <a:lnSpc>
                <a:spcPct val="100000"/>
              </a:lnSpc>
            </a:pPr>
            <a:endParaRPr lang="zh-CN" altLang="en-US" sz="1600"/>
          </a:p>
        </p:txBody>
      </p:sp>
      <p:sp>
        <p:nvSpPr>
          <p:cNvPr id="192" name="path 192"/>
          <p:cNvSpPr/>
          <p:nvPr/>
        </p:nvSpPr>
        <p:spPr>
          <a:xfrm>
            <a:off x="699770" y="4994910"/>
            <a:ext cx="3086100" cy="9144"/>
          </a:xfrm>
          <a:custGeom>
            <a:avLst/>
            <a:gdLst/>
            <a:ahLst/>
            <a:cxnLst/>
            <a:rect l="0" t="0" r="0" b="0"/>
            <a:pathLst>
              <a:path w="4860" h="14">
                <a:moveTo>
                  <a:pt x="0" y="0"/>
                </a:moveTo>
                <a:lnTo>
                  <a:pt x="4860" y="0"/>
                </a:lnTo>
                <a:lnTo>
                  <a:pt x="4860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>
              <a:lnSpc>
                <a:spcPct val="100000"/>
              </a:lnSpc>
            </a:pPr>
            <a:endParaRPr lang="zh-CN" altLang="en-US" sz="1600"/>
          </a:p>
        </p:txBody>
      </p:sp>
      <p:grpSp>
        <p:nvGrpSpPr>
          <p:cNvPr id="8" name="组合 7"/>
          <p:cNvGrpSpPr/>
          <p:nvPr/>
        </p:nvGrpSpPr>
        <p:grpSpPr>
          <a:xfrm>
            <a:off x="8834755" y="158115"/>
            <a:ext cx="4655820" cy="610870"/>
            <a:chOff x="14688" y="261"/>
            <a:chExt cx="7332" cy="962"/>
          </a:xfrm>
        </p:grpSpPr>
        <p:sp>
          <p:nvSpPr>
            <p:cNvPr id="2" name="1"/>
            <p:cNvSpPr/>
            <p:nvPr>
              <p:custDataLst>
                <p:tags r:id="rId4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6348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4722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02 仿真场地 ·</a:t>
              </a:r>
              <a:r>
                <a:rPr sz="2000" kern="0" spc="2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建图</a:t>
              </a:r>
              <a:r>
                <a:rPr sz="2000" kern="0" spc="7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·</a:t>
              </a:r>
              <a:r>
                <a:rPr sz="2000" kern="0" spc="3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导航</a:t>
              </a:r>
              <a:endPara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0000"/>
                </a:lnSpc>
              </a:pPr>
              <a:endParaRPr sz="2000" kern="0" spc="2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12750" y="6216650"/>
            <a:ext cx="6096000" cy="485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智慧社区复赛答辩 · </a:t>
            </a:r>
            <a:r>
              <a:rPr lang="en-US"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close_ai</a:t>
            </a:r>
            <a:r>
              <a:rPr sz="1000" kern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/16</a:t>
            </a:r>
            <a:endParaRPr lang="zh-CN" altLang="en-US" sz="1100" b="1" kern="0" spc="30" dirty="0">
              <a:solidFill>
                <a:srgbClr val="1E4F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50515" y="1600200"/>
            <a:ext cx="1183903" cy="685165"/>
            <a:chOff x="4697" y="4350"/>
            <a:chExt cx="1712" cy="965"/>
          </a:xfrm>
        </p:grpSpPr>
        <p:sp>
          <p:nvSpPr>
            <p:cNvPr id="29" name="圆角矩形 28"/>
            <p:cNvSpPr/>
            <p:nvPr/>
          </p:nvSpPr>
          <p:spPr>
            <a:xfrm>
              <a:off x="4697" y="4350"/>
              <a:ext cx="1607" cy="965"/>
            </a:xfrm>
            <a:prstGeom prst="roundRect">
              <a:avLst/>
            </a:prstGeom>
            <a:solidFill>
              <a:schemeClr val="bg1">
                <a:alpha val="30000"/>
              </a:schemeClr>
            </a:solidFill>
            <a:ln>
              <a:gradFill>
                <a:gsLst>
                  <a:gs pos="0">
                    <a:srgbClr val="198551">
                      <a:alpha val="0"/>
                    </a:srgbClr>
                  </a:gs>
                  <a:gs pos="60000">
                    <a:srgbClr val="EFC94A"/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</a:gradFill>
            </a:ln>
            <a:effectLst>
              <a:innerShdw blurRad="190500">
                <a:srgbClr val="18954D">
                  <a:lumMod val="60000"/>
                  <a:lumOff val="40000"/>
                  <a:alpha val="50000"/>
                </a:srgbClr>
              </a:innerShdw>
            </a:effectLst>
          </p:spPr>
          <p:style>
            <a:lnRef idx="2">
              <a:srgbClr val="071B11">
                <a:shade val="50000"/>
              </a:srgbClr>
            </a:lnRef>
            <a:fillRef idx="1">
              <a:srgbClr val="071B11"/>
            </a:fillRef>
            <a:effectRef idx="0">
              <a:srgbClr val="071B11"/>
            </a:effectRef>
            <a:fontRef idx="minor">
              <a:sysClr val="window" lastClr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gradFill>
                  <a:gsLst>
                    <a:gs pos="100000">
                      <a:srgbClr val="18954D">
                        <a:lumMod val="20000"/>
                        <a:lumOff val="80000"/>
                      </a:srgbClr>
                    </a:gs>
                    <a:gs pos="0">
                      <a:srgbClr val="18954D"/>
                    </a:gs>
                  </a:gsLst>
                  <a:path path="circle">
                    <a:fillToRect l="100000" t="100000"/>
                  </a:path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POSans B" charset="0"/>
                <a:ea typeface="OPPOSans B" charset="0"/>
                <a:sym typeface="+mn-ea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698" y="4350"/>
              <a:ext cx="1711" cy="874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r>
                <a:rPr lang="en-US" altLang="zh-CN" sz="16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0.05 m/</a:t>
              </a:r>
              <a:r>
                <a:rPr lang="zh-CN" altLang="en-US" sz="16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格同分辨率</a:t>
              </a:r>
              <a:endPara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IMG_256"/>
          <p:cNvPicPr>
            <a:picLocks noChangeAspect="1"/>
          </p:cNvPicPr>
          <p:nvPr/>
        </p:nvPicPr>
        <p:blipFill>
          <a:blip r:embed="rId1"/>
          <a:srcRect t="9814"/>
          <a:stretch>
            <a:fillRect/>
          </a:stretch>
        </p:blipFill>
        <p:spPr>
          <a:xfrm>
            <a:off x="129540" y="1021080"/>
            <a:ext cx="7147560" cy="4846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2750" y="869950"/>
            <a:ext cx="11366500" cy="53467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7087870" y="1628775"/>
            <a:ext cx="5502910" cy="36830"/>
          </a:xfrm>
          <a:prstGeom prst="line">
            <a:avLst/>
          </a:prstGeom>
          <a:ln w="25400">
            <a:solidFill>
              <a:srgbClr val="095BC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4" name="textbox 194"/>
          <p:cNvSpPr/>
          <p:nvPr/>
        </p:nvSpPr>
        <p:spPr>
          <a:xfrm>
            <a:off x="8794750" y="869950"/>
            <a:ext cx="1403350" cy="1148080"/>
          </a:xfrm>
          <a:prstGeom prst="rect">
            <a:avLst/>
          </a:prstGeom>
          <a:solidFill>
            <a:srgbClr val="E6EDF6">
              <a:alpha val="98431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160" algn="l" rtl="0" eaLnBrk="0">
              <a:lnSpc>
                <a:spcPts val="3370"/>
              </a:lnSpc>
              <a:spcBef>
                <a:spcPts val="0"/>
              </a:spcBef>
            </a:pPr>
            <a:r>
              <a:rPr lang="en-US" sz="2500" b="1" dirty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14.4m</a:t>
            </a:r>
            <a:endParaRPr sz="2500" b="1" dirty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1285" indent="635" algn="l" rtl="0" eaLnBrk="0">
              <a:lnSpc>
                <a:spcPct val="107000"/>
              </a:lnSpc>
              <a:spcBef>
                <a:spcPts val="5"/>
              </a:spcBef>
            </a:pPr>
            <a:r>
              <a:rPr sz="1000" kern="0" spc="4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航线中心线长</a:t>
            </a:r>
            <a:endParaRPr sz="1000" kern="0" spc="4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1285" indent="635" algn="l" rtl="0" eaLnBrk="0">
              <a:lnSpc>
                <a:spcPct val="107000"/>
              </a:lnSpc>
              <a:spcBef>
                <a:spcPts val="5"/>
              </a:spcBef>
            </a:pPr>
            <a:r>
              <a:rPr sz="1000" kern="0" spc="3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不含 </a:t>
            </a:r>
            <a:r>
              <a:rPr lang="en-US" sz="1000" kern="0" spc="3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</a:t>
            </a:r>
            <a:r>
              <a:rPr lang="zh-CN" altLang="en-US" sz="1000" kern="0" spc="3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次停靠</a:t>
            </a:r>
            <a:r>
              <a:rPr sz="1000" kern="0" spc="3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1000" kern="0" spc="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4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等灯</a:t>
            </a:r>
            <a:endParaRPr sz="1000" kern="0" spc="4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7289800" y="4298950"/>
            <a:ext cx="4489450" cy="1917700"/>
            <a:chOff x="0" y="0"/>
            <a:chExt cx="4489450" cy="1917700"/>
          </a:xfrm>
        </p:grpSpPr>
        <p:pic>
          <p:nvPicPr>
            <p:cNvPr id="200" name="picture 2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489450" cy="1917700"/>
            </a:xfrm>
            <a:prstGeom prst="rect">
              <a:avLst/>
            </a:prstGeom>
          </p:spPr>
        </p:pic>
        <p:sp>
          <p:nvSpPr>
            <p:cNvPr id="202" name="textbox 202"/>
            <p:cNvSpPr/>
            <p:nvPr/>
          </p:nvSpPr>
          <p:spPr>
            <a:xfrm>
              <a:off x="-12700" y="-12700"/>
              <a:ext cx="4514850" cy="19589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3990" algn="l" rtl="0" eaLnBrk="0">
                <a:lnSpc>
                  <a:spcPct val="87000"/>
                </a:lnSpc>
              </a:pPr>
              <a:r>
                <a:rPr sz="1400" b="1" kern="0" spc="30" dirty="0">
                  <a:solidFill>
                    <a:srgbClr val="0E3F8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窄净空是这版参数存</a:t>
              </a:r>
              <a:r>
                <a:rPr sz="1400" b="1" kern="0" spc="20" dirty="0">
                  <a:solidFill>
                    <a:srgbClr val="0E3F8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在的理由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3355" algn="l" rtl="0" eaLnBrk="0">
                <a:lnSpc>
                  <a:spcPts val="1550"/>
                </a:lnSpc>
                <a:spcBef>
                  <a:spcPts val="1205"/>
                </a:spcBef>
              </a:pP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本场地行车道净宽 0.6</a:t>
              </a:r>
              <a:r>
                <a:rPr sz="1200" kern="0" spc="9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</a:t>
              </a:r>
              <a:r>
                <a:rPr sz="1200" kern="0" spc="-17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，居中</a:t>
              </a:r>
              <a:r>
                <a:rPr sz="1200" kern="0" spc="-2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后两侧各剩约 0.15</a:t>
              </a:r>
              <a:r>
                <a:rPr sz="1200" kern="0" spc="1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2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m；</a:t>
              </a:r>
              <a:endParaRPr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3355" indent="635" algn="l" rtl="0" eaLnBrk="0">
                <a:lnSpc>
                  <a:spcPct val="148000"/>
                </a:lnSpc>
                <a:spcBef>
                  <a:spcPts val="235"/>
                </a:spcBef>
              </a:pP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TurtleBot3 默认代价地图（膨胀</a:t>
              </a:r>
              <a:r>
                <a:rPr sz="1200" kern="0" spc="12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1.0</a:t>
              </a:r>
              <a:r>
                <a:rPr sz="1200" kern="0" spc="1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m）会把窄道直接</a:t>
              </a:r>
              <a:r>
                <a:rPr sz="1200" kern="0" spc="-2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判为不</a:t>
              </a:r>
              <a:r>
                <a:rPr sz="1200" kern="0" spc="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可通行</a:t>
              </a:r>
              <a:r>
                <a:rPr sz="1200" kern="0" spc="-1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，因此按本场地重定膨胀半径与衰减。</a:t>
              </a:r>
              <a:r>
                <a:rPr lang="zh-CN"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航线上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逐点</a:t>
              </a:r>
              <a:r>
                <a:rPr sz="1200" kern="0" spc="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核对过车体外廓净空</a:t>
              </a:r>
              <a:r>
                <a:rPr sz="1200" kern="0" spc="-18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，最紧一处 0.051</a:t>
              </a:r>
              <a:r>
                <a:rPr sz="1200" kern="0" spc="1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m。整圈逐点墙钟</a:t>
              </a:r>
              <a:r>
                <a:rPr sz="1200" kern="0" spc="-2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合计</a:t>
              </a:r>
              <a:r>
                <a:rPr sz="1200" kern="0" spc="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668.6 s</a:t>
              </a:r>
              <a:r>
                <a:rPr sz="1200" kern="0" spc="-10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，3–4 分钟的纯行驶估算只是其中一小部分。</a:t>
              </a:r>
              <a:endParaRPr sz="12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04" name="textbox 204"/>
          <p:cNvSpPr/>
          <p:nvPr/>
        </p:nvSpPr>
        <p:spPr>
          <a:xfrm>
            <a:off x="413214" y="312649"/>
            <a:ext cx="6265545" cy="45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370"/>
              </a:lnSpc>
            </a:pPr>
            <a:r>
              <a:rPr lang="zh-CN" sz="2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多点导航与避障：</a:t>
            </a:r>
            <a:r>
              <a:rPr lang="en-US" altLang="zh-CN" sz="2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</a:t>
            </a:r>
            <a:r>
              <a:rPr lang="zh-CN" altLang="en-US" sz="2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个目标</a:t>
            </a:r>
            <a:r>
              <a:rPr lang="en-US" altLang="zh-CN" sz="2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14.4 m </a:t>
            </a:r>
            <a:r>
              <a:rPr lang="zh-CN" altLang="en-US" sz="2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航线</a:t>
            </a:r>
            <a:endParaRPr lang="zh-CN" altLang="en-US" sz="2500" b="1" dirty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7437715" y="2258813"/>
            <a:ext cx="4192904" cy="600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400" b="1" kern="0" spc="2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规划与避障设置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80"/>
              </a:lnSpc>
            </a:pPr>
            <a:r>
              <a:rPr sz="1100" kern="0" spc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 / 局部规划       </a:t>
            </a:r>
            <a:r>
              <a:rPr sz="1100" kern="0" spc="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1100" kern="0" spc="-1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1200" b="1" kern="0" spc="-10" dirty="0">
                <a:solidFill>
                  <a:srgbClr val="1A223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move_base</a:t>
            </a:r>
            <a:r>
              <a:rPr sz="1200" b="1" kern="0" spc="140" dirty="0">
                <a:solidFill>
                  <a:srgbClr val="1A223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kern="0" spc="-10" dirty="0">
                <a:solidFill>
                  <a:srgbClr val="1A223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200" b="1" kern="0" spc="100" dirty="0">
                <a:solidFill>
                  <a:srgbClr val="1A223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kern="0" spc="-10" dirty="0">
                <a:solidFill>
                  <a:srgbClr val="1A223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DWA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8" name="table 208"/>
          <p:cNvGraphicFramePr>
            <a:graphicFrameLocks noGrp="1"/>
          </p:cNvGraphicFramePr>
          <p:nvPr/>
        </p:nvGraphicFramePr>
        <p:xfrm>
          <a:off x="7448550" y="2952750"/>
          <a:ext cx="4171315" cy="542925"/>
        </p:xfrm>
        <a:graphic>
          <a:graphicData uri="http://schemas.openxmlformats.org/drawingml/2006/table">
            <a:tbl>
              <a:tblPr/>
              <a:tblGrid>
                <a:gridCol w="2019935"/>
                <a:gridCol w="2151379"/>
              </a:tblGrid>
              <a:tr h="542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</a:pPr>
                      <a:endParaRPr sz="1000" dirty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" algn="l" rtl="0" eaLnBrk="0">
                        <a:lnSpc>
                          <a:spcPts val="1460"/>
                        </a:lnSpc>
                      </a:pPr>
                      <a:r>
                        <a:rPr sz="1100" kern="0" spc="2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代价地图（按场地重标）</a:t>
                      </a:r>
                      <a:endParaRPr sz="1100" kern="0" spc="2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1000" dirty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58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膨胀 0.17</a:t>
                      </a:r>
                      <a:r>
                        <a:rPr sz="1200" b="1" kern="0" spc="9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 / 衰减 8.0</a:t>
                      </a:r>
                      <a:endParaRPr sz="1200" b="1" kern="0" spc="-1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table 212"/>
          <p:cNvGraphicFramePr>
            <a:graphicFrameLocks noGrp="1"/>
          </p:cNvGraphicFramePr>
          <p:nvPr/>
        </p:nvGraphicFramePr>
        <p:xfrm>
          <a:off x="7289800" y="869950"/>
          <a:ext cx="1403350" cy="1136650"/>
        </p:xfrm>
        <a:graphic>
          <a:graphicData uri="http://schemas.openxmlformats.org/drawingml/2006/table">
            <a:tbl>
              <a:tblPr>
                <a:solidFill>
                  <a:srgbClr val="E8EFF8"/>
                </a:solidFill>
              </a:tblPr>
              <a:tblGrid>
                <a:gridCol w="1403350"/>
              </a:tblGrid>
              <a:tr h="1130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r>
                        <a:rPr lang="en-US" sz="2500" b="1" dirty="0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23</a:t>
                      </a:r>
                      <a:r>
                        <a:rPr lang="zh-CN" altLang="en-US" sz="2500" b="1" dirty="0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</a:t>
                      </a:r>
                      <a:endParaRPr lang="en-US" sz="2500" b="1" dirty="0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22555" algn="l" rtl="0" eaLnBrk="0">
                        <a:lnSpc>
                          <a:spcPct val="87000"/>
                        </a:lnSpc>
                        <a:spcBef>
                          <a:spcPts val="205"/>
                        </a:spcBef>
                      </a:pPr>
                      <a:r>
                        <a:rPr sz="1200" kern="0" spc="4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巡逻目标点</a:t>
                      </a:r>
                      <a:endParaRPr sz="1200" kern="0" spc="4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22555" algn="l" rtl="0" eaLnBrk="0">
                        <a:lnSpc>
                          <a:spcPct val="87000"/>
                        </a:lnSpc>
                        <a:spcBef>
                          <a:spcPts val="205"/>
                        </a:spcBef>
                      </a:pPr>
                      <a:r>
                        <a:rPr sz="1200" b="0" kern="0" spc="-4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</a:t>
                      </a:r>
                      <a:r>
                        <a:rPr sz="1200" b="0" kern="0" spc="7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200" b="0" kern="0" spc="7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 </a:t>
                      </a:r>
                      <a:r>
                        <a:rPr lang="zh-CN" altLang="en-US" sz="1200" b="0" kern="0" spc="7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个观察点</a:t>
                      </a:r>
                      <a:endParaRPr lang="zh-CN" altLang="en-US" sz="1200" b="0" kern="0" spc="7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214" name="textbox 214"/>
          <p:cNvSpPr/>
          <p:nvPr/>
        </p:nvSpPr>
        <p:spPr>
          <a:xfrm>
            <a:off x="10299700" y="869315"/>
            <a:ext cx="1403350" cy="1136650"/>
          </a:xfrm>
          <a:prstGeom prst="rect">
            <a:avLst/>
          </a:prstGeom>
          <a:solidFill>
            <a:srgbClr val="E8EF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5415" algn="l" rtl="0" eaLnBrk="0">
              <a:lnSpc>
                <a:spcPts val="3370"/>
              </a:lnSpc>
              <a:spcBef>
                <a:spcPts val="0"/>
              </a:spcBef>
            </a:pPr>
            <a:r>
              <a:rPr lang="en-US" sz="2500" b="1" dirty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500" b="1" dirty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sz="2500" b="1" dirty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2080" algn="l" rtl="0" eaLnBrk="0">
              <a:lnSpc>
                <a:spcPct val="88000"/>
              </a:lnSpc>
              <a:spcBef>
                <a:spcPts val="195"/>
              </a:spcBef>
            </a:pPr>
            <a:r>
              <a:rPr sz="1200" kern="0" spc="2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门控路口</a:t>
            </a:r>
            <a:endParaRPr sz="1200" kern="0" spc="2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2080" algn="l" rtl="0" eaLnBrk="0">
              <a:lnSpc>
                <a:spcPct val="88000"/>
              </a:lnSpc>
              <a:spcBef>
                <a:spcPts val="195"/>
              </a:spcBef>
            </a:pPr>
            <a:r>
              <a:rPr lang="zh-CN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上行</a:t>
            </a:r>
            <a:r>
              <a:rPr lang="en-US" altLang="zh-CN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/ </a:t>
            </a:r>
            <a:r>
              <a:rPr lang="zh-CN" altLang="en-US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下行</a:t>
            </a:r>
            <a:r>
              <a:rPr lang="en-US" altLang="zh-CN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endParaRPr lang="zh-CN" altLang="en-US" sz="1000" dirty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7437715" y="3699561"/>
            <a:ext cx="418592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80"/>
              </a:lnSpc>
            </a:pPr>
            <a:r>
              <a:rPr sz="1100" kern="0" spc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定点姿态微调                                            </a:t>
            </a:r>
            <a:r>
              <a:rPr sz="1200" b="1" kern="0" spc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距目标</a:t>
            </a:r>
            <a:r>
              <a:rPr sz="1200" b="1" kern="0" spc="14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kern="0" spc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sz="1200" b="1" kern="0" spc="4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kern="0" spc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</a:t>
            </a:r>
            <a:r>
              <a:rPr sz="1200" b="1" kern="0" spc="8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kern="0" spc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内接管</a:t>
            </a:r>
            <a:endParaRPr sz="1200" b="1" kern="0" spc="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path 220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9199880" y="158115"/>
            <a:ext cx="4655820" cy="610870"/>
            <a:chOff x="14688" y="261"/>
            <a:chExt cx="7332" cy="962"/>
          </a:xfrm>
        </p:grpSpPr>
        <p:sp>
          <p:nvSpPr>
            <p:cNvPr id="176" name="1"/>
            <p:cNvSpPr/>
            <p:nvPr>
              <p:custDataLst>
                <p:tags r:id="rId4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6348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4722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02 仿真场地 ·</a:t>
              </a:r>
              <a:r>
                <a:rPr sz="2000" kern="0" spc="2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建图</a:t>
              </a:r>
              <a:r>
                <a:rPr sz="2000" kern="0" spc="7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·</a:t>
              </a:r>
              <a:r>
                <a:rPr sz="2000" kern="0" spc="3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导航</a:t>
              </a:r>
              <a:endPara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0000"/>
                </a:lnSpc>
              </a:pPr>
              <a:endParaRPr sz="2000" kern="0" spc="2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11480" y="6216650"/>
            <a:ext cx="6096000" cy="613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0">
              <a:lnSpc>
                <a:spcPct val="83000"/>
              </a:lnSpc>
            </a:pPr>
            <a:endParaRPr sz="1100" b="1" dirty="0">
              <a:solidFill>
                <a:srgbClr val="1E4FA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智慧社区复赛答辩 · </a:t>
            </a:r>
            <a:r>
              <a:rPr lang="en-US"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close_ai</a:t>
            </a:r>
            <a:r>
              <a:rPr sz="10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000" kern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/16</a:t>
            </a:r>
            <a:endParaRPr lang="zh-CN" altLang="en-US" sz="1100" b="1" kern="0" spc="30" dirty="0">
              <a:solidFill>
                <a:srgbClr val="1E4F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exec-e10cc41a-a3c9-429c-b1cc-fda557be261c"/>
          <p:cNvPicPr>
            <a:picLocks noChangeAspect="1"/>
          </p:cNvPicPr>
          <p:nvPr/>
        </p:nvPicPr>
        <p:blipFill>
          <a:blip r:embed="rId1"/>
          <a:srcRect l="-1493" t="2565" r="20116"/>
          <a:stretch>
            <a:fillRect/>
          </a:stretch>
        </p:blipFill>
        <p:spPr>
          <a:xfrm>
            <a:off x="3205480" y="0"/>
            <a:ext cx="8986520" cy="6682105"/>
          </a:xfrm>
          <a:prstGeom prst="rect">
            <a:avLst/>
          </a:prstGeom>
        </p:spPr>
      </p:pic>
      <p:sp>
        <p:nvSpPr>
          <p:cNvPr id="44" name="rect 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86000">
                <a:srgbClr val="023355">
                  <a:alpha val="70000"/>
                </a:srgbClr>
              </a:gs>
              <a:gs pos="0">
                <a:srgbClr val="082050"/>
              </a:gs>
              <a:gs pos="61000">
                <a:srgbClr val="023355"/>
              </a:gs>
              <a:gs pos="0">
                <a:srgbClr val="0E0C4B"/>
              </a:gs>
              <a:gs pos="100000">
                <a:srgbClr val="070948">
                  <a:alpha val="28000"/>
                </a:srgbClr>
              </a:gs>
            </a:gsLst>
            <a:lin ang="0" scaled="0"/>
          </a:gradFill>
          <a:ln w="0" cap="flat">
            <a:noFill/>
            <a:prstDash val="solid"/>
            <a:miter lim="0"/>
          </a:ln>
          <a:effectLst>
            <a:outerShdw dist="50800" dir="5400000" algn="ctr" rotWithShape="0">
              <a:srgbClr val="000000">
                <a:alpha val="43000"/>
              </a:srgbClr>
            </a:outerShdw>
          </a:effectLst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139700" y="6051550"/>
            <a:ext cx="12449175" cy="9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textbox 226"/>
          <p:cNvSpPr/>
          <p:nvPr/>
        </p:nvSpPr>
        <p:spPr>
          <a:xfrm>
            <a:off x="7578343" y="2850261"/>
            <a:ext cx="4805045" cy="530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>
            <a:outerShdw blurRad="393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1550"/>
              </a:lnSpc>
            </a:pPr>
            <a:r>
              <a:rPr sz="31400" b="1" kern="0" spc="-560" dirty="0">
                <a:solidFill>
                  <a:srgbClr val="17499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711200" y="2073114"/>
            <a:ext cx="6003925" cy="270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5785" algn="l" rtl="0" eaLnBrk="0">
              <a:lnSpc>
                <a:spcPts val="1660"/>
              </a:lnSpc>
              <a:tabLst>
                <a:tab pos="743585" algn="l"/>
              </a:tabLst>
            </a:pP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C</a:t>
            </a:r>
            <a:r>
              <a:rPr sz="1200" kern="0" spc="3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</a:t>
            </a:r>
            <a:r>
              <a:rPr sz="1200" kern="0" spc="3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PT</a:t>
            </a:r>
            <a:r>
              <a:rPr sz="1200" kern="0" spc="3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sz="1200" kern="0" spc="3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sz="1200" kern="0" spc="30" dirty="0">
                <a:solidFill>
                  <a:srgbClr val="8FB4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0 3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ct val="87000"/>
              </a:lnSpc>
              <a:spcBef>
                <a:spcPts val="1150"/>
              </a:spcBef>
            </a:pPr>
            <a:r>
              <a:rPr sz="38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视觉识别</a:t>
            </a:r>
            <a:r>
              <a:rPr sz="3800" b="1" kern="0" spc="3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8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工程判断</a:t>
            </a:r>
            <a:r>
              <a:rPr sz="3800" b="1" kern="0" spc="3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8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进</a:t>
            </a:r>
            <a:r>
              <a:rPr sz="38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</a:t>
            </a:r>
            <a:endParaRPr sz="3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ts val="1935"/>
              </a:lnSpc>
              <a:spcBef>
                <a:spcPts val="450"/>
              </a:spcBef>
              <a:tabLst>
                <a:tab pos="226695" algn="l"/>
              </a:tabLst>
            </a:pP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三条视觉链路：红绿灯 / </a:t>
            </a:r>
            <a:r>
              <a:rPr sz="15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人偶 / 车牌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ct val="86000"/>
              </a:lnSpc>
              <a:spcBef>
                <a:spcPts val="1360"/>
              </a:spcBef>
              <a:tabLst>
                <a:tab pos="226695" algn="l"/>
              </a:tabLst>
            </a:pP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5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三处体现工程判断的设计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8900" algn="l" rtl="0" eaLnBrk="0">
              <a:lnSpc>
                <a:spcPts val="1935"/>
              </a:lnSpc>
              <a:spcBef>
                <a:spcPts val="1160"/>
              </a:spcBef>
              <a:tabLst>
                <a:tab pos="222250" algn="l"/>
              </a:tabLst>
            </a:pP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硬件选型与 Sim2R</a:t>
            </a:r>
            <a:r>
              <a:rPr sz="15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eal 部署策略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900" algn="l" rtl="0" eaLnBrk="0">
              <a:lnSpc>
                <a:spcPts val="1935"/>
              </a:lnSpc>
              <a:tabLst>
                <a:tab pos="223520" algn="l"/>
              </a:tabLst>
            </a:pPr>
            <a:r>
              <a:rPr sz="1500" kern="0" spc="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已完成 / 未完成</a:t>
            </a:r>
            <a:r>
              <a:rPr sz="1500" kern="0" spc="-1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与下一步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0" name="path 230"/>
          <p:cNvSpPr/>
          <p:nvPr/>
        </p:nvSpPr>
        <p:spPr>
          <a:xfrm>
            <a:off x="723900" y="46101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2" name="path 232"/>
          <p:cNvSpPr/>
          <p:nvPr/>
        </p:nvSpPr>
        <p:spPr>
          <a:xfrm>
            <a:off x="723900" y="42291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4" name="path 234"/>
          <p:cNvSpPr/>
          <p:nvPr/>
        </p:nvSpPr>
        <p:spPr>
          <a:xfrm>
            <a:off x="723900" y="38481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" name="path 236"/>
          <p:cNvSpPr/>
          <p:nvPr/>
        </p:nvSpPr>
        <p:spPr>
          <a:xfrm>
            <a:off x="723900" y="34671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120" h="120">
                <a:moveTo>
                  <a:pt x="0" y="0"/>
                </a:moveTo>
                <a:lnTo>
                  <a:pt x="120" y="0"/>
                </a:lnTo>
                <a:lnTo>
                  <a:pt x="120" y="120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8" name="path 238"/>
          <p:cNvSpPr/>
          <p:nvPr/>
        </p:nvSpPr>
        <p:spPr>
          <a:xfrm>
            <a:off x="723900" y="2171700"/>
            <a:ext cx="553211" cy="47244"/>
          </a:xfrm>
          <a:custGeom>
            <a:avLst/>
            <a:gdLst/>
            <a:ahLst/>
            <a:cxnLst/>
            <a:rect l="0" t="0" r="0" b="0"/>
            <a:pathLst>
              <a:path w="871" h="74">
                <a:moveTo>
                  <a:pt x="0" y="0"/>
                </a:moveTo>
                <a:lnTo>
                  <a:pt x="871" y="0"/>
                </a:lnTo>
                <a:lnTo>
                  <a:pt x="871" y="74"/>
                </a:lnTo>
                <a:lnTo>
                  <a:pt x="0" y="74"/>
                </a:lnTo>
                <a:lnTo>
                  <a:pt x="0" y="0"/>
                </a:lnTo>
                <a:close/>
              </a:path>
            </a:pathLst>
          </a:custGeom>
          <a:solidFill>
            <a:srgbClr val="FFC10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/>
          <p:nvPr/>
        </p:nvSpPr>
        <p:spPr>
          <a:xfrm>
            <a:off x="3329940" y="875665"/>
            <a:ext cx="2329815" cy="1540510"/>
          </a:xfrm>
          <a:prstGeom prst="rect">
            <a:avLst/>
          </a:prstGeom>
          <a:solidFill>
            <a:srgbClr val="F8FAFD"/>
          </a:solidFill>
          <a:ln w="10795">
            <a:solidFill>
              <a:srgbClr val="C8D5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>
              <a:defRPr sz="1500" b="1">
                <a:solidFill>
                  <a:srgbClr val="506076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1" name="Rectangle 9"/>
          <p:cNvSpPr/>
          <p:nvPr/>
        </p:nvSpPr>
        <p:spPr>
          <a:xfrm>
            <a:off x="377190" y="4387850"/>
            <a:ext cx="2953385" cy="1687830"/>
          </a:xfrm>
          <a:prstGeom prst="rect">
            <a:avLst/>
          </a:prstGeom>
          <a:solidFill>
            <a:srgbClr val="F8FAFD"/>
          </a:solidFill>
          <a:ln w="10795">
            <a:solidFill>
              <a:srgbClr val="C8D5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500" b="1">
                <a:solidFill>
                  <a:srgbClr val="506076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9"/>
          <p:cNvSpPr/>
          <p:nvPr/>
        </p:nvSpPr>
        <p:spPr>
          <a:xfrm>
            <a:off x="2675890" y="2519680"/>
            <a:ext cx="2983230" cy="1773555"/>
          </a:xfrm>
          <a:prstGeom prst="rect">
            <a:avLst/>
          </a:prstGeom>
          <a:solidFill>
            <a:srgbClr val="F8FAFD"/>
          </a:solidFill>
          <a:ln w="10795">
            <a:solidFill>
              <a:srgbClr val="C8D5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500" b="1">
                <a:solidFill>
                  <a:srgbClr val="506076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7" name="Rectangle 9"/>
          <p:cNvSpPr/>
          <p:nvPr/>
        </p:nvSpPr>
        <p:spPr>
          <a:xfrm>
            <a:off x="377825" y="2519680"/>
            <a:ext cx="2185670" cy="1773555"/>
          </a:xfrm>
          <a:prstGeom prst="rect">
            <a:avLst/>
          </a:prstGeom>
          <a:solidFill>
            <a:srgbClr val="F8FAFD"/>
          </a:solidFill>
          <a:ln w="10795">
            <a:solidFill>
              <a:srgbClr val="C8D5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500" b="1">
                <a:solidFill>
                  <a:srgbClr val="506076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377190" y="869950"/>
            <a:ext cx="2795270" cy="1546225"/>
          </a:xfrm>
          <a:prstGeom prst="rect">
            <a:avLst/>
          </a:prstGeom>
          <a:solidFill>
            <a:srgbClr val="F8FAFD"/>
          </a:solidFill>
          <a:ln w="10795">
            <a:solidFill>
              <a:srgbClr val="C8D5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500" b="1">
                <a:solidFill>
                  <a:srgbClr val="506076"/>
                </a:solidFill>
                <a:latin typeface="微软雅黑" panose="020B0503020204020204" charset="-122"/>
              </a:defRPr>
            </a:pPr>
          </a:p>
        </p:txBody>
      </p:sp>
      <p:pic>
        <p:nvPicPr>
          <p:cNvPr id="240" name="picture 240"/>
          <p:cNvPicPr>
            <a:picLocks noChangeAspect="1"/>
          </p:cNvPicPr>
          <p:nvPr/>
        </p:nvPicPr>
        <p:blipFill>
          <a:blip r:embed="rId1"/>
          <a:srcRect l="48363"/>
          <a:stretch>
            <a:fillRect/>
          </a:stretch>
        </p:blipFill>
        <p:spPr>
          <a:xfrm rot="21600000">
            <a:off x="5909945" y="869950"/>
            <a:ext cx="5869305" cy="5346700"/>
          </a:xfrm>
          <a:prstGeom prst="rect">
            <a:avLst/>
          </a:prstGeom>
        </p:spPr>
      </p:pic>
      <p:graphicFrame>
        <p:nvGraphicFramePr>
          <p:cNvPr id="244" name="table 244"/>
          <p:cNvGraphicFramePr>
            <a:graphicFrameLocks noGrp="1"/>
          </p:cNvGraphicFramePr>
          <p:nvPr/>
        </p:nvGraphicFramePr>
        <p:xfrm>
          <a:off x="6013450" y="4508500"/>
          <a:ext cx="5765165" cy="1708150"/>
        </p:xfrm>
        <a:graphic>
          <a:graphicData uri="http://schemas.openxmlformats.org/drawingml/2006/table">
            <a:tbl>
              <a:tblPr/>
              <a:tblGrid>
                <a:gridCol w="1102360"/>
                <a:gridCol w="4662804"/>
              </a:tblGrid>
              <a:tr h="7499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310" indent="9525" algn="l" rtl="0" eaLnBrk="0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车位观察图像 → ROI 裁剪放大 → EasyOCR 字符识别 → 底色与本场景号牌格式校验 → 输出识别结果或失败状态；抓拍由任务点触发，结果返回巡检系统并保存。</a:t>
                      </a:r>
                      <a:endParaRPr sz="1200" kern="0" spc="-1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67310" indent="9525" algn="l" rtl="0" eaLnBrk="0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chemeClr val="bg1">
                              <a:lumMod val="50000"/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绿牌 6 位且首位 D / F、其余 5 位，是本场景号牌的校验规则。</a:t>
                      </a:r>
                      <a:endParaRPr sz="1200" kern="0" spc="-10" dirty="0">
                        <a:solidFill>
                          <a:schemeClr val="bg1">
                            <a:lumMod val="50000"/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82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256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000" b="1" kern="0" spc="6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车牌</a:t>
                      </a:r>
                      <a:endParaRPr sz="2000" b="1" kern="0" spc="60" dirty="0">
                        <a:solidFill>
                          <a:srgbClr val="0E3F8C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6" name="textbox 246"/>
          <p:cNvSpPr/>
          <p:nvPr/>
        </p:nvSpPr>
        <p:spPr>
          <a:xfrm>
            <a:off x="7101840" y="1000125"/>
            <a:ext cx="4551680" cy="1503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0000"/>
              </a:lnSpc>
            </a:pPr>
            <a:r>
              <a:rPr sz="12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观察点相机图像 → 灯面区域定位与 HSV 筛选 → 亮度得分与分差判定 → 输出红 / 黄 / 绿或未知；巡检节点根据结果决定等待或通行。</a:t>
            </a:r>
            <a:endParaRPr sz="1200" kern="0" spc="-1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50000"/>
              </a:lnSpc>
              <a:spcBef>
                <a:spcPts val="370"/>
              </a:spcBef>
            </a:pPr>
            <a:r>
              <a:rPr sz="1200" kern="0" spc="-10" dirty="0"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HSV 筛选要求 sat &gt; 70，得分取亮度通道 90 分位，「超过本站门限」且「与次高分差不小于 25」同时成立才判灯色。判灯只吃相机图像，仿真灯色话题全线未订阅。</a:t>
            </a:r>
            <a:endParaRPr sz="1200" kern="0" spc="-10" dirty="0">
              <a:solidFill>
                <a:schemeClr val="bg1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0"/>
              </a:spcBef>
            </a:pPr>
            <a:endParaRPr sz="1200" kern="0" spc="-10" dirty="0">
              <a:solidFill>
                <a:schemeClr val="bg1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7171131" y="2864713"/>
            <a:ext cx="4382134" cy="1297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2700" algn="l" rtl="0" eaLnBrk="0">
              <a:lnSpc>
                <a:spcPct val="150000"/>
              </a:lnSpc>
              <a:spcBef>
                <a:spcPts val="370"/>
              </a:spcBef>
              <a:buClrTx/>
              <a:buSzTx/>
              <a:buNone/>
            </a:pPr>
            <a:r>
              <a:rPr sz="1200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相机图像 → 18 类 YOLO 直接检测 → 重叠框去重与置信度筛选 → 输出身份类别、社区归属与人数统计所需检测结果。</a:t>
            </a:r>
            <a:endParaRPr sz="1200" kern="0" spc="-1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50000"/>
              </a:lnSpc>
              <a:spcBef>
                <a:spcPts val="370"/>
              </a:spcBef>
              <a:buClrTx/>
              <a:buSzTx/>
              <a:buNone/>
            </a:pPr>
            <a:r>
              <a:rPr sz="1200" kern="0" spc="-10" dirty="0">
                <a:solidFill>
                  <a:schemeClr val="bg1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 1–16 为社区人员，f1 / f2 为非社区人员；检测阈值 0.25、去重 IoU 0.5、身份确认 0.75，默认推理尺寸 512，部分观察点用 1024。</a:t>
            </a:r>
            <a:endParaRPr sz="1200" kern="0" spc="-10" dirty="0">
              <a:solidFill>
                <a:schemeClr val="bg1">
                  <a:lumMod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415810" y="312649"/>
            <a:ext cx="5243195" cy="45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370"/>
              </a:lnSpc>
            </a:pPr>
            <a:r>
              <a:rPr sz="2500" b="1" kern="0" spc="4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三条视觉链路：红绿</a:t>
            </a:r>
            <a:r>
              <a:rPr sz="2500" b="1" kern="0" spc="3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灯 / 人偶 / 车牌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" name="path 254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8" name="textbox 258"/>
          <p:cNvSpPr/>
          <p:nvPr/>
        </p:nvSpPr>
        <p:spPr>
          <a:xfrm>
            <a:off x="6172200" y="990600"/>
            <a:ext cx="876300" cy="591819"/>
          </a:xfrm>
          <a:prstGeom prst="rect">
            <a:avLst/>
          </a:pr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640" algn="l" rtl="0" eaLnBrk="0">
              <a:lnSpc>
                <a:spcPts val="2580"/>
              </a:lnSpc>
              <a:spcBef>
                <a:spcPts val="0"/>
              </a:spcBef>
            </a:pPr>
            <a:r>
              <a:rPr sz="1900" b="1" kern="0" spc="-2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6172200" y="2809875"/>
            <a:ext cx="876300" cy="590550"/>
          </a:xfrm>
          <a:prstGeom prst="rect">
            <a:avLst/>
          </a:pr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640" algn="l" rtl="0" eaLnBrk="0">
              <a:lnSpc>
                <a:spcPts val="2580"/>
              </a:lnSpc>
              <a:spcBef>
                <a:spcPts val="0"/>
              </a:spcBef>
            </a:pPr>
            <a:r>
              <a:rPr sz="1900" b="1" kern="0" spc="-2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6172200" y="4629150"/>
            <a:ext cx="876300" cy="590550"/>
          </a:xfrm>
          <a:prstGeom prst="rect">
            <a:avLst/>
          </a:pr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640" algn="l" rtl="0" eaLnBrk="0">
              <a:lnSpc>
                <a:spcPts val="2580"/>
              </a:lnSpc>
              <a:spcBef>
                <a:spcPts val="0"/>
              </a:spcBef>
            </a:pPr>
            <a:r>
              <a:rPr sz="1900" b="1" kern="0" spc="-2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6161405" y="1645920"/>
            <a:ext cx="940435" cy="40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000" b="1" kern="0" spc="7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红绿灯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6162040" y="3467100"/>
            <a:ext cx="758825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000" b="1" kern="0" spc="6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人偶</a:t>
            </a:r>
            <a:endParaRPr sz="2000" b="1" kern="0" spc="60" dirty="0">
              <a:solidFill>
                <a:srgbClr val="0E3F8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380730" y="223520"/>
            <a:ext cx="4655820" cy="610870"/>
            <a:chOff x="14688" y="261"/>
            <a:chExt cx="7332" cy="962"/>
          </a:xfrm>
        </p:grpSpPr>
        <p:sp>
          <p:nvSpPr>
            <p:cNvPr id="176" name="1"/>
            <p:cNvSpPr/>
            <p:nvPr>
              <p:custDataLst>
                <p:tags r:id="rId2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7629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5410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 视觉识别 ·</a:t>
              </a:r>
              <a:r>
                <a:rPr sz="2000" kern="0" spc="7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工程判断</a:t>
              </a:r>
              <a:r>
                <a:rPr sz="2000" kern="0" spc="8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· 进度</a:t>
              </a:r>
              <a:endPara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0000"/>
                </a:lnSpc>
              </a:pPr>
              <a:endParaRPr sz="2000" kern="0" spc="2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15925" y="6196330"/>
            <a:ext cx="6096000" cy="485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智慧社区复赛答辩 · close_ai</a:t>
            </a:r>
            <a:r>
              <a:rPr sz="1000" kern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/16</a:t>
            </a:r>
            <a:endParaRPr lang="zh-CN" altLang="en-US" sz="1100" b="1" kern="0" spc="30" dirty="0">
              <a:solidFill>
                <a:srgbClr val="1E4F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 descr="01_TL_UP_WAIT"/>
          <p:cNvPicPr>
            <a:picLocks noChangeAspect="1"/>
          </p:cNvPicPr>
          <p:nvPr/>
        </p:nvPicPr>
        <p:blipFill>
          <a:blip r:embed="rId3"/>
          <a:srcRect t="1197" b="-1197"/>
          <a:stretch>
            <a:fillRect/>
          </a:stretch>
        </p:blipFill>
        <p:spPr>
          <a:xfrm>
            <a:off x="377190" y="869950"/>
            <a:ext cx="2795905" cy="1572895"/>
          </a:xfrm>
          <a:prstGeom prst="rect">
            <a:avLst/>
          </a:prstGeom>
        </p:spPr>
      </p:pic>
      <p:pic>
        <p:nvPicPr>
          <p:cNvPr id="4" name="图片 3" descr="6a6356310ea76c1edfc2a8fa66eb5bc3"/>
          <p:cNvPicPr>
            <a:picLocks noChangeAspect="1"/>
          </p:cNvPicPr>
          <p:nvPr/>
        </p:nvPicPr>
        <p:blipFill>
          <a:blip r:embed="rId4"/>
          <a:srcRect l="8048" t="18926" r="5613" b="11176"/>
          <a:stretch>
            <a:fillRect/>
          </a:stretch>
        </p:blipFill>
        <p:spPr>
          <a:xfrm>
            <a:off x="2675890" y="2528570"/>
            <a:ext cx="2983230" cy="1755775"/>
          </a:xfrm>
          <a:prstGeom prst="rect">
            <a:avLst/>
          </a:prstGeom>
        </p:spPr>
      </p:pic>
      <p:pic>
        <p:nvPicPr>
          <p:cNvPr id="5" name="图片 4" descr="a07b62aea3964aa151283d82688a089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25" y="2511425"/>
            <a:ext cx="2185670" cy="1782445"/>
          </a:xfrm>
          <a:prstGeom prst="rect">
            <a:avLst/>
          </a:prstGeom>
        </p:spPr>
      </p:pic>
      <p:pic>
        <p:nvPicPr>
          <p:cNvPr id="6" name="图片 5" descr="14_CAR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190" y="4387850"/>
            <a:ext cx="2952750" cy="1687830"/>
          </a:xfrm>
          <a:prstGeom prst="rect">
            <a:avLst/>
          </a:prstGeom>
        </p:spPr>
      </p:pic>
      <p:sp>
        <p:nvSpPr>
          <p:cNvPr id="14" name="Rectangle 9"/>
          <p:cNvSpPr/>
          <p:nvPr/>
        </p:nvSpPr>
        <p:spPr>
          <a:xfrm>
            <a:off x="3456940" y="4414520"/>
            <a:ext cx="2203450" cy="1652270"/>
          </a:xfrm>
          <a:prstGeom prst="rect">
            <a:avLst/>
          </a:prstGeom>
          <a:solidFill>
            <a:srgbClr val="F8FAFD"/>
          </a:solidFill>
          <a:ln w="10795">
            <a:solidFill>
              <a:srgbClr val="C8D5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>
              <a:defRPr sz="1500" b="1">
                <a:solidFill>
                  <a:srgbClr val="506076"/>
                </a:solidFill>
                <a:latin typeface="微软雅黑" panose="020B0503020204020204" charset="-122"/>
              </a:defRPr>
            </a:pPr>
          </a:p>
        </p:txBody>
      </p:sp>
      <p:pic>
        <p:nvPicPr>
          <p:cNvPr id="15" name="图片 14" descr="contact_00"/>
          <p:cNvPicPr>
            <a:picLocks noChangeAspect="1"/>
          </p:cNvPicPr>
          <p:nvPr/>
        </p:nvPicPr>
        <p:blipFill>
          <a:blip r:embed="rId7"/>
          <a:srcRect l="32787" b="12552"/>
          <a:stretch>
            <a:fillRect/>
          </a:stretch>
        </p:blipFill>
        <p:spPr>
          <a:xfrm flipH="1">
            <a:off x="3330575" y="846455"/>
            <a:ext cx="2328545" cy="1564005"/>
          </a:xfrm>
          <a:prstGeom prst="rect">
            <a:avLst/>
          </a:prstGeom>
        </p:spPr>
      </p:pic>
      <p:pic>
        <p:nvPicPr>
          <p:cNvPr id="16" name="图片 15" descr="05_rviz_zoom"/>
          <p:cNvPicPr>
            <a:picLocks noChangeAspect="1"/>
          </p:cNvPicPr>
          <p:nvPr/>
        </p:nvPicPr>
        <p:blipFill>
          <a:blip r:embed="rId8"/>
          <a:srcRect l="9242" t="8322"/>
          <a:stretch>
            <a:fillRect/>
          </a:stretch>
        </p:blipFill>
        <p:spPr>
          <a:xfrm>
            <a:off x="3456940" y="4422775"/>
            <a:ext cx="2202180" cy="16471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ath 390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8309610" y="243840"/>
            <a:ext cx="4655820" cy="610870"/>
            <a:chOff x="14688" y="261"/>
            <a:chExt cx="7332" cy="962"/>
          </a:xfrm>
        </p:grpSpPr>
        <p:sp>
          <p:nvSpPr>
            <p:cNvPr id="176" name="1"/>
            <p:cNvSpPr/>
            <p:nvPr>
              <p:custDataLst>
                <p:tags r:id="rId1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7629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5410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 视觉识别 ·</a:t>
              </a:r>
              <a:r>
                <a:rPr sz="2000" kern="0" spc="7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工程判断</a:t>
              </a:r>
              <a:r>
                <a:rPr sz="2000" kern="0" spc="8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· 进度</a:t>
              </a:r>
              <a:endPara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0000"/>
                </a:lnSpc>
              </a:pPr>
              <a:endParaRPr sz="2000" kern="0" spc="2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12750" y="6207125"/>
            <a:ext cx="6096000" cy="485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智慧社区复赛答辩 · close_ai </a:t>
            </a:r>
            <a:r>
              <a:rPr sz="1000" kern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/16</a:t>
            </a:r>
            <a:endParaRPr lang="zh-CN" altLang="en-US" sz="1100" b="1" kern="0" spc="30" dirty="0">
              <a:solidFill>
                <a:srgbClr val="1E4F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1480" y="3302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仿真巡检与视觉验证结果</a:t>
            </a:r>
            <a:endParaRPr lang="zh-CN" altLang="en-US" sz="2400" b="1">
              <a:solidFill>
                <a:srgbClr val="0E2B8C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1480" y="7874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4A5568"/>
                </a:solidFill>
                <a:latin typeface="Arial" panose="020B0604020202020204" pitchFamily="34" charset="0"/>
                <a:ea typeface="微软雅黑" panose="020B0503020204020204" charset="-122"/>
              </a:rPr>
              <a:t>沿规划路线执行观察、识别与灯控通行，结合任务日志和图像记录核验巡检结果。</a:t>
            </a:r>
            <a:endParaRPr lang="zh-CN" altLang="en-US" sz="1100">
              <a:solidFill>
                <a:srgbClr val="4A556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412750" y="1041400"/>
            <a:ext cx="3644900" cy="990600"/>
          </a:xfrm>
          <a:prstGeom prst="roundRect">
            <a:avLst>
              <a:gd name="adj" fmla="val 6000"/>
            </a:avLst>
          </a:prstGeom>
          <a:solidFill>
            <a:srgbClr val="F7F7FC"/>
          </a:solidFill>
          <a:ln w="9525">
            <a:solidFill>
              <a:srgbClr val="D6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615950" y="11684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4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23/23</a:t>
            </a:r>
            <a:endParaRPr lang="en-US" altLang="zh-CN" sz="2400" b="1">
              <a:solidFill>
                <a:srgbClr val="0E2B8C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lang="zh-CN" altLang="en-US" sz="1400" b="1">
                <a:solidFill>
                  <a:srgbClr val="4A5568"/>
                </a:solidFill>
                <a:latin typeface="Arial" panose="020B0604020202020204" pitchFamily="34" charset="0"/>
                <a:ea typeface="微软雅黑" panose="020B0503020204020204" charset="-122"/>
              </a:rPr>
              <a:t>巡检目标完成</a:t>
            </a:r>
            <a:endParaRPr lang="zh-CN" altLang="en-US" sz="1400" b="1">
              <a:solidFill>
                <a:srgbClr val="4A5568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lang="zh-CN" altLang="en-US" sz="1050">
                <a:solidFill>
                  <a:srgbClr val="8B97A8"/>
                </a:solidFill>
                <a:latin typeface="Arial" panose="020B0604020202020204" pitchFamily="34" charset="0"/>
                <a:ea typeface="微软雅黑" panose="020B0503020204020204" charset="-122"/>
              </a:rPr>
              <a:t>里程计巡检模式整圈实跑</a:t>
            </a:r>
            <a:endParaRPr lang="zh-CN" altLang="en-US" sz="1050">
              <a:solidFill>
                <a:srgbClr val="8B97A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4267200" y="1041400"/>
            <a:ext cx="3644900" cy="990600"/>
          </a:xfrm>
          <a:prstGeom prst="roundRect">
            <a:avLst>
              <a:gd name="adj" fmla="val 6000"/>
            </a:avLst>
          </a:prstGeom>
          <a:solidFill>
            <a:srgbClr val="F7F7FC"/>
          </a:solidFill>
          <a:ln w="9525">
            <a:solidFill>
              <a:srgbClr val="D6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4470400" y="11684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4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0 </a:t>
            </a:r>
            <a:r>
              <a:rPr lang="zh-CN" altLang="en-US" sz="24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次</a:t>
            </a:r>
            <a:endParaRPr lang="zh-CN" altLang="en-US" sz="2400" b="1">
              <a:solidFill>
                <a:srgbClr val="0E2B8C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lang="zh-CN" altLang="en-US" sz="1400" b="1">
                <a:solidFill>
                  <a:srgbClr val="4A5568"/>
                </a:solidFill>
                <a:latin typeface="Arial" panose="020B0604020202020204" pitchFamily="34" charset="0"/>
                <a:ea typeface="微软雅黑" panose="020B0503020204020204" charset="-122"/>
              </a:rPr>
              <a:t>道路越界记录</a:t>
            </a:r>
            <a:endParaRPr lang="zh-CN" altLang="en-US" sz="1400" b="1">
              <a:solidFill>
                <a:srgbClr val="4A5568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lang="zh-CN" altLang="en-US" sz="1050">
                <a:solidFill>
                  <a:srgbClr val="8B97A8"/>
                </a:solidFill>
                <a:latin typeface="Arial" panose="020B0604020202020204" pitchFamily="34" charset="0"/>
                <a:ea typeface="微软雅黑" panose="020B0503020204020204" charset="-122"/>
              </a:rPr>
              <a:t>按运行日志中的车体边界采样判定</a:t>
            </a:r>
            <a:endParaRPr lang="zh-CN" altLang="en-US" sz="1050">
              <a:solidFill>
                <a:srgbClr val="8B97A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121650" y="1041400"/>
            <a:ext cx="3644900" cy="990600"/>
          </a:xfrm>
          <a:prstGeom prst="roundRect">
            <a:avLst>
              <a:gd name="adj" fmla="val 6000"/>
            </a:avLst>
          </a:prstGeom>
          <a:solidFill>
            <a:srgbClr val="F7F7FC"/>
          </a:solidFill>
          <a:ln w="9525">
            <a:solidFill>
              <a:srgbClr val="D6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8324850" y="11684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4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2 </a:t>
            </a:r>
            <a:r>
              <a:rPr lang="zh-CN" altLang="en-US" sz="24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处</a:t>
            </a:r>
            <a:endParaRPr lang="zh-CN" altLang="en-US" sz="2400" b="1">
              <a:solidFill>
                <a:srgbClr val="0E2B8C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lang="zh-CN" altLang="en-US" sz="1400" b="1">
                <a:solidFill>
                  <a:srgbClr val="4A5568"/>
                </a:solidFill>
                <a:latin typeface="Arial" panose="020B0604020202020204" pitchFamily="34" charset="0"/>
                <a:ea typeface="微软雅黑" panose="020B0503020204020204" charset="-122"/>
              </a:rPr>
              <a:t>灯控路口完成通行</a:t>
            </a:r>
            <a:endParaRPr lang="zh-CN" altLang="en-US" sz="1400" b="1">
              <a:solidFill>
                <a:srgbClr val="4A5568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lang="zh-CN" altLang="en-US" sz="1050">
                <a:solidFill>
                  <a:srgbClr val="8B97A8"/>
                </a:solidFill>
                <a:latin typeface="Arial" panose="020B0604020202020204" pitchFamily="34" charset="0"/>
                <a:ea typeface="微软雅黑" panose="020B0503020204020204" charset="-122"/>
              </a:rPr>
              <a:t>非绿跨线移动记录为 </a:t>
            </a:r>
            <a:r>
              <a:rPr lang="en-US" altLang="zh-CN" sz="1050">
                <a:solidFill>
                  <a:srgbClr val="8B97A8"/>
                </a:solidFill>
                <a:latin typeface="Arial" panose="020B0604020202020204" pitchFamily="34" charset="0"/>
                <a:ea typeface="微软雅黑" panose="020B0503020204020204" charset="-122"/>
              </a:rPr>
              <a:t>0 </a:t>
            </a:r>
            <a:r>
              <a:rPr lang="zh-CN" altLang="en-US" sz="1050">
                <a:solidFill>
                  <a:srgbClr val="8B97A8"/>
                </a:solidFill>
                <a:latin typeface="Arial" panose="020B0604020202020204" pitchFamily="34" charset="0"/>
                <a:ea typeface="微软雅黑" panose="020B0503020204020204" charset="-122"/>
              </a:rPr>
              <a:t>次</a:t>
            </a:r>
            <a:endParaRPr lang="zh-CN" altLang="en-US" sz="1050">
              <a:solidFill>
                <a:srgbClr val="8B97A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412750" y="2159000"/>
            <a:ext cx="3644900" cy="340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65150" y="2273300"/>
            <a:ext cx="3340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红绿灯｜识别结果驱动路口通行</a:t>
            </a:r>
            <a:endParaRPr lang="zh-CN" altLang="en-US" sz="1600" b="1">
              <a:solidFill>
                <a:srgbClr val="0E2B8C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7" name="图片 1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" y="2555875"/>
            <a:ext cx="3340100" cy="18796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65150" y="4674870"/>
            <a:ext cx="3340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4A5568"/>
                </a:solidFill>
                <a:latin typeface="Arial" panose="020B0604020202020204" pitchFamily="34" charset="0"/>
                <a:ea typeface="微软雅黑" panose="020B0503020204020204" charset="-122"/>
              </a:rPr>
              <a:t>根据相机图像输出灯态，巡检节点执行等待与放行；通过灯态记录与跨线记录核验通行过程。</a:t>
            </a:r>
            <a:endParaRPr lang="zh-CN" altLang="en-US" sz="1200">
              <a:solidFill>
                <a:srgbClr val="4A556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267200" y="2159000"/>
            <a:ext cx="3644900" cy="340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419600" y="2273300"/>
            <a:ext cx="3340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人偶｜身份识别与街区汇总</a:t>
            </a:r>
            <a:endParaRPr lang="zh-CN" altLang="en-US" sz="1600" b="1">
              <a:solidFill>
                <a:srgbClr val="0E2B8C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2" name="图片 2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552065"/>
            <a:ext cx="3340100" cy="18796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4419600" y="4613910"/>
            <a:ext cx="3340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4A5568"/>
                </a:solidFill>
                <a:latin typeface="Arial" panose="020B0604020202020204" pitchFamily="34" charset="0"/>
                <a:ea typeface="微软雅黑" panose="020B0503020204020204" charset="-122"/>
              </a:rPr>
              <a:t>输出人物类别与社区归属，结合多个观察点的检测结果去重并分街区汇总；识别效果依据人工复核记录评估。</a:t>
            </a:r>
            <a:endParaRPr lang="zh-CN" altLang="en-US" sz="1200">
              <a:solidFill>
                <a:srgbClr val="4A556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8121650" y="2159000"/>
            <a:ext cx="3644900" cy="340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274050" y="2273300"/>
            <a:ext cx="3340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车牌｜观察点抓拍与字符识别</a:t>
            </a:r>
            <a:endParaRPr lang="zh-CN" altLang="en-US" sz="1600" b="1">
              <a:solidFill>
                <a:srgbClr val="0E2B8C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7" name="图片 2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050" y="2555875"/>
            <a:ext cx="3340100" cy="18796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8274050" y="4674870"/>
            <a:ext cx="3340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200">
                <a:solidFill>
                  <a:srgbClr val="4A5568"/>
                </a:solidFill>
                <a:latin typeface="Arial" panose="020B0604020202020204" pitchFamily="34" charset="0"/>
                <a:ea typeface="微软雅黑" panose="020B0503020204020204" charset="-122"/>
              </a:rPr>
              <a:t>完成三个车位观察点的图像采集与 </a:t>
            </a:r>
            <a:r>
              <a:rPr lang="en-US" altLang="zh-CN" sz="1200">
                <a:solidFill>
                  <a:srgbClr val="4A5568"/>
                </a:solidFill>
                <a:latin typeface="Arial" panose="020B0604020202020204" pitchFamily="34" charset="0"/>
                <a:ea typeface="微软雅黑" panose="020B0503020204020204" charset="-122"/>
              </a:rPr>
              <a:t>OCR </a:t>
            </a:r>
            <a:r>
              <a:rPr lang="zh-CN" altLang="en-US" sz="1200">
                <a:solidFill>
                  <a:srgbClr val="4A5568"/>
                </a:solidFill>
                <a:latin typeface="Arial" panose="020B0604020202020204" pitchFamily="34" charset="0"/>
                <a:ea typeface="微软雅黑" panose="020B0503020204020204" charset="-122"/>
              </a:rPr>
              <a:t>输出，检查识别文本与对应场景车牌是否一致。</a:t>
            </a:r>
            <a:endParaRPr lang="zh-CN" altLang="en-US" sz="1200">
              <a:solidFill>
                <a:srgbClr val="4A556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5267960" y="5073015"/>
            <a:ext cx="2644140" cy="49276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9525">
            <a:solidFill>
              <a:srgbClr val="1E4F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313680" y="5120005"/>
            <a:ext cx="3136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12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类别一致率：92.0%　样本量：25 帧</a:t>
            </a:r>
            <a:endParaRPr lang="zh-CN" altLang="en-US" sz="1200" b="1">
              <a:solidFill>
                <a:srgbClr val="0E2B8C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200" b="1">
                <a:solidFill>
                  <a:srgbClr val="0E2B8C"/>
                </a:solidFill>
                <a:latin typeface="Arial" panose="020B0604020202020204" pitchFamily="34" charset="0"/>
                <a:ea typeface="微软雅黑" panose="020B0503020204020204" charset="-122"/>
              </a:rPr>
              <a:t>依据人工复核记录统计</a:t>
            </a:r>
            <a:endParaRPr lang="zh-CN" altLang="en-US" sz="1200" b="1">
              <a:solidFill>
                <a:srgbClr val="0E2B8C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2750" y="5689600"/>
            <a:ext cx="1136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8B97A8"/>
                </a:solidFill>
                <a:latin typeface="Arial" panose="020B0604020202020204" pitchFamily="34" charset="0"/>
                <a:ea typeface="微软雅黑" panose="020B0503020204020204" charset="-122"/>
              </a:rPr>
              <a:t>验证依据：任务到达日志、道路与跨线采样记录、相机抓拍、视觉结果文件及人工复核记录。</a:t>
            </a:r>
            <a:endParaRPr lang="zh-CN" altLang="en-US" sz="1400">
              <a:solidFill>
                <a:srgbClr val="8B97A8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lang="zh-CN" altLang="en-US" sz="1400">
                <a:solidFill>
                  <a:srgbClr val="8B97A8"/>
                </a:solidFill>
                <a:latin typeface="Arial" panose="020B0604020202020204" pitchFamily="34" charset="0"/>
                <a:ea typeface="微软雅黑" panose="020B0503020204020204" charset="-122"/>
              </a:rPr>
              <a:t>整圈结果对应里程计巡检模式；各项视觉指标按对应测试样本与评估口径统计。</a:t>
            </a:r>
            <a:endParaRPr lang="zh-CN" altLang="en-US" sz="1400">
              <a:solidFill>
                <a:srgbClr val="8B97A8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 268"/>
          <p:cNvSpPr/>
          <p:nvPr/>
        </p:nvSpPr>
        <p:spPr>
          <a:xfrm>
            <a:off x="419100" y="3429000"/>
            <a:ext cx="11353800" cy="2781300"/>
          </a:xfrm>
          <a:prstGeom prst="rect">
            <a:avLst/>
          </a:prstGeom>
          <a:solidFill>
            <a:srgbClr val="F0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12750" y="3422650"/>
            <a:ext cx="11366500" cy="2794000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1380490" y="3619500"/>
            <a:ext cx="4715510" cy="2291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7000"/>
              </a:lnSpc>
            </a:pPr>
            <a:r>
              <a:rPr sz="1500" b="1" kern="0" spc="7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跨语言算力分层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ts val="1550"/>
              </a:lnSpc>
              <a:spcBef>
                <a:spcPts val="1435"/>
              </a:spcBef>
            </a:pPr>
            <a:r>
              <a:rPr sz="12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问题：ROS Melodic 侧是 Python 2.7，当前视觉模型需要 Python 3 运行环境，且推理耗时存在波动。</a:t>
            </a:r>
            <a:endParaRPr sz="1200" kern="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ts val="1550"/>
              </a:lnSpc>
              <a:spcBef>
                <a:spcPts val="1435"/>
              </a:spcBef>
            </a:pPr>
            <a:r>
              <a:rPr sz="12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设计：推理放到独立 Python 3 服务，ROS 侧只传 JPEG 字节与 JSON；请求经有界队列（默认 8）串行处理，单请求超时 20 s，同一任务点的重复请求按「任务号 + 图像 + 时间戳」抑制。</a:t>
            </a:r>
            <a:endParaRPr sz="1200" kern="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ts val="1550"/>
              </a:lnSpc>
              <a:spcBef>
                <a:spcPts val="1435"/>
              </a:spcBef>
            </a:pPr>
            <a:r>
              <a:rPr sz="12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作用：识别请求不会持续堆积；队列满或超时都写出明确的失败状态，逐条结果落盘并按运行编号归档。</a:t>
            </a:r>
            <a:endParaRPr sz="1200" kern="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lang="zh-CN" alt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274" name="table 27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12750" y="869950"/>
          <a:ext cx="5590540" cy="2393950"/>
        </p:xfrm>
        <a:graphic>
          <a:graphicData uri="http://schemas.openxmlformats.org/drawingml/2006/table">
            <a:tbl>
              <a:tblPr/>
              <a:tblGrid>
                <a:gridCol w="883920"/>
                <a:gridCol w="4706620"/>
              </a:tblGrid>
              <a:tr h="2393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</a:pPr>
                      <a:endParaRPr sz="1000" kern="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6" name="table 27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194425" y="869950"/>
          <a:ext cx="5534025" cy="4787900"/>
        </p:xfrm>
        <a:graphic>
          <a:graphicData uri="http://schemas.openxmlformats.org/drawingml/2006/table">
            <a:tbl>
              <a:tblPr/>
              <a:tblGrid>
                <a:gridCol w="875665"/>
                <a:gridCol w="4658360"/>
              </a:tblGrid>
              <a:tr h="2393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47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500" b="1" kern="0" spc="7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感知与决策解耦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365"/>
                        </a:spcBef>
                        <a:buClrTx/>
                        <a:buSzTx/>
                        <a:buFontTx/>
                      </a:pPr>
                      <a:r>
                        <a:rPr lang="en-US"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问题：视觉算法与停走策略会反复调整，若写进主流程，每次改动</a:t>
                      </a:r>
                      <a:endParaRPr sz="1200" kern="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365"/>
                        </a:spcBef>
                        <a:buClrTx/>
                        <a:buSzTx/>
                        <a:buFontTx/>
                      </a:pPr>
                      <a:r>
                        <a:rPr lang="en-US"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都要动巡检逻辑。</a:t>
                      </a:r>
                      <a:endParaRPr sz="1200" kern="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365"/>
                        </a:spcBef>
                        <a:buClrTx/>
                        <a:buSzTx/>
                        <a:buFontTx/>
                      </a:pPr>
                      <a:endParaRPr sz="1200" kern="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365"/>
                        </a:spcBef>
                        <a:buClrTx/>
                        <a:buSzTx/>
                        <a:buFontTx/>
                      </a:pPr>
                      <a:r>
                        <a:rPr lang="en-US"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设计：判灯节点只发布灯色，巡检节点只按灯色门控，两者通过观</a:t>
                      </a:r>
                      <a:endParaRPr sz="1200" kern="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365"/>
                        </a:spcBef>
                        <a:buClrTx/>
                        <a:buSzTx/>
                        <a:buFontTx/>
                      </a:pPr>
                      <a:r>
                        <a:rPr lang="en-US"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测触发与灯色两个话题耦合。</a:t>
                      </a:r>
                      <a:endParaRPr sz="1200" kern="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365"/>
                        </a:spcBef>
                        <a:buClrTx/>
                        <a:buSzTx/>
                        <a:buFontTx/>
                      </a:pPr>
                      <a:endParaRPr sz="1200" kern="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365"/>
                        </a:spcBef>
                        <a:buClrTx/>
                        <a:buSzTx/>
                        <a:buFontTx/>
                      </a:pPr>
                      <a:r>
                        <a:rPr lang="en-US"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作用：保持接口约定时，可独立替换识别算法或调整任务策略，另</a:t>
                      </a:r>
                      <a:endParaRPr sz="1200" kern="0" dirty="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365"/>
                        </a:spcBef>
                        <a:buClrTx/>
                        <a:buSzTx/>
                        <a:buFontTx/>
                      </a:pPr>
                      <a:r>
                        <a:rPr lang="en-US"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一侧不必改写。</a:t>
                      </a:r>
                      <a:endParaRPr lang="zh-CN" alt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78" name="picture 2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35394" y="3706717"/>
            <a:ext cx="5237528" cy="1131124"/>
          </a:xfrm>
          <a:prstGeom prst="rect">
            <a:avLst/>
          </a:prstGeom>
        </p:spPr>
      </p:pic>
      <p:sp>
        <p:nvSpPr>
          <p:cNvPr id="282" name="textbox 282"/>
          <p:cNvSpPr/>
          <p:nvPr/>
        </p:nvSpPr>
        <p:spPr>
          <a:xfrm>
            <a:off x="415810" y="380467"/>
            <a:ext cx="3579495" cy="356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zh-CN" altLang="en-US" sz="2500" b="1" kern="0" spc="4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关键工程设计</a:t>
            </a:r>
            <a:endParaRPr lang="zh-CN" altLang="en-US" sz="2500" b="1" kern="0" spc="40" dirty="0">
              <a:solidFill>
                <a:srgbClr val="0E3F8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4" name="path 284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6" name="textbox 286"/>
          <p:cNvSpPr/>
          <p:nvPr/>
        </p:nvSpPr>
        <p:spPr>
          <a:xfrm>
            <a:off x="6409944" y="1066800"/>
            <a:ext cx="591819" cy="591819"/>
          </a:xfrm>
          <a:prstGeom prst="rect">
            <a:avLst/>
          </a:pr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4790" algn="l" rtl="0" eaLnBrk="0">
              <a:lnSpc>
                <a:spcPts val="2975"/>
              </a:lnSpc>
              <a:spcBef>
                <a:spcPts val="5"/>
              </a:spcBef>
            </a:pPr>
            <a:r>
              <a:rPr sz="22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8" name="rect 288"/>
          <p:cNvSpPr/>
          <p:nvPr/>
        </p:nvSpPr>
        <p:spPr>
          <a:xfrm>
            <a:off x="647700" y="3619500"/>
            <a:ext cx="591311" cy="591311"/>
          </a:xfrm>
          <a:prstGeom prst="rect">
            <a:avLst/>
          </a:prstGeom>
          <a:solidFill>
            <a:srgbClr val="0E3F8C">
              <a:alpha val="9411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0" name="textbox 290"/>
          <p:cNvSpPr/>
          <p:nvPr/>
        </p:nvSpPr>
        <p:spPr>
          <a:xfrm>
            <a:off x="628650" y="1066800"/>
            <a:ext cx="590550" cy="591819"/>
          </a:xfrm>
          <a:prstGeom prst="rect">
            <a:avLst/>
          </a:prstGeom>
          <a:solidFill>
            <a:srgbClr val="0E3F8C">
              <a:alpha val="9882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5585" algn="l" rtl="0" eaLnBrk="0">
              <a:lnSpc>
                <a:spcPts val="2975"/>
              </a:lnSpc>
              <a:spcBef>
                <a:spcPts val="5"/>
              </a:spcBef>
            </a:pPr>
            <a:r>
              <a:rPr sz="22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866601" y="3706394"/>
            <a:ext cx="180339" cy="403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975"/>
              </a:lnSpc>
            </a:pPr>
            <a:r>
              <a:rPr sz="2100" b="1" kern="0" spc="-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390890" y="222885"/>
            <a:ext cx="4655820" cy="610870"/>
            <a:chOff x="14688" y="261"/>
            <a:chExt cx="7332" cy="962"/>
          </a:xfrm>
        </p:grpSpPr>
        <p:sp>
          <p:nvSpPr>
            <p:cNvPr id="176" name="1"/>
            <p:cNvSpPr/>
            <p:nvPr>
              <p:custDataLst>
                <p:tags r:id="rId5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7629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5410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 视觉识别 ·</a:t>
              </a:r>
              <a:r>
                <a:rPr sz="2000" kern="0" spc="7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工程判断</a:t>
              </a:r>
              <a:r>
                <a:rPr sz="2000" kern="0" spc="8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· 进度</a:t>
              </a:r>
              <a:endPara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0000"/>
                </a:lnSpc>
              </a:pPr>
              <a:endParaRPr sz="2000" kern="0" spc="2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15" name="table 274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6297295" y="5064125"/>
          <a:ext cx="5276215" cy="843915"/>
        </p:xfrm>
        <a:graphic>
          <a:graphicData uri="http://schemas.openxmlformats.org/drawingml/2006/table">
            <a:tbl>
              <a:tblPr/>
              <a:tblGrid>
                <a:gridCol w="833755"/>
                <a:gridCol w="4442460"/>
              </a:tblGrid>
              <a:tr h="843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</a:pPr>
                      <a:endParaRPr sz="1000" kern="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11480" y="6157595"/>
            <a:ext cx="6096000" cy="485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智慧社区复赛答辩 · close_ai </a:t>
            </a:r>
            <a:r>
              <a:rPr sz="1000" kern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/16</a:t>
            </a:r>
            <a:endParaRPr lang="zh-CN" altLang="en-US" sz="1100" b="1" kern="0" spc="30" dirty="0">
              <a:solidFill>
                <a:srgbClr val="1E4F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35395" y="5235575"/>
            <a:ext cx="488442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kern="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桥接节点只传字节与 JSON，两侧不共享内存，也不依赖同一套 Python 运行时；队列与超时参数由 launch 传入，换地址不必改代码。</a:t>
            </a:r>
            <a:endParaRPr sz="1200" kern="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9200" y="1003935"/>
            <a:ext cx="4591050" cy="242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8740" algn="l" rtl="0" eaLnBrk="0">
              <a:lnSpc>
                <a:spcPct val="87000"/>
              </a:lnSpc>
            </a:pPr>
            <a:r>
              <a:rPr sz="1600" b="1" kern="0" spc="7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场地程序化生成</a:t>
            </a:r>
            <a:endParaRPr sz="1600" b="1" kern="0" spc="70" dirty="0">
              <a:solidFill>
                <a:srgbClr val="0E3F8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8740" algn="l" rtl="0" eaLnBrk="0">
              <a:lnSpc>
                <a:spcPct val="87000"/>
              </a:lnSpc>
            </a:pPr>
            <a:endParaRPr kern="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8740" algn="l" rtl="0" eaLnBrk="0">
              <a:lnSpc>
                <a:spcPct val="87000"/>
              </a:lnSpc>
            </a:pPr>
            <a:r>
              <a:rPr sz="12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问题：场地、贴图、红绿灯、地图、航线与场景真值分属多份文件，手工改一处容易留下不一致。</a:t>
            </a:r>
            <a:endParaRPr sz="1200" kern="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8740" algn="l" rtl="0" eaLnBrk="0">
              <a:lnSpc>
                <a:spcPct val="107000"/>
              </a:lnSpc>
            </a:pPr>
            <a:r>
              <a:rPr sz="12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设计：场景整体由一张常量表参数化生成；地图、航线与任务配置另有一套核验脚本交叉检查一致性。</a:t>
            </a:r>
            <a:endParaRPr sz="1200" kern="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8740" algn="l" rtl="0" eaLnBrk="0">
              <a:lnSpc>
                <a:spcPct val="107000"/>
              </a:lnSpc>
            </a:pPr>
            <a:r>
              <a:rPr sz="12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作用：改坐标只改一处，复跑生成器与静态自检即可确认地图、航线、真值三者仍然对齐。</a:t>
            </a:r>
            <a:endParaRPr sz="1200" kern="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7470" algn="l" rtl="0" eaLnBrk="0">
              <a:lnSpc>
                <a:spcPts val="1550"/>
              </a:lnSpc>
              <a:spcBef>
                <a:spcPts val="1445"/>
              </a:spcBef>
            </a:pPr>
            <a:r>
              <a:rPr sz="1200" kern="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核验脚本 5 个，最近一次静态自检 84 项通过 / 0 失败 / 1 警告。贴图与三维道具复用包内成品，重建脚本未随包交付。</a:t>
            </a:r>
            <a:endParaRPr sz="1200" kern="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200" kern="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091045" y="15468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091045" y="217805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091045" y="276034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304925" y="15468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304925" y="190182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304925" y="231140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304925" y="413512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304925" y="467296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304925" y="546925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picture 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12750" y="869950"/>
            <a:ext cx="11366500" cy="5346700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4724400" y="4400550"/>
            <a:ext cx="7048500" cy="1809750"/>
          </a:xfrm>
          <a:prstGeom prst="rect">
            <a:avLst/>
          </a:pr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4630" algn="l" rtl="0" eaLnBrk="0">
              <a:lnSpc>
                <a:spcPct val="100000"/>
              </a:lnSpc>
              <a:spcBef>
                <a:spcPts val="0"/>
              </a:spcBef>
            </a:pPr>
            <a:r>
              <a:rPr b="1" u="sng" kern="0" spc="2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FFC107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配置依据</a:t>
            </a:r>
            <a:endParaRPr b="1" u="sng" kern="0" spc="20" dirty="0">
              <a:solidFill>
                <a:srgbClr val="FFFFFF">
                  <a:alpha val="100000"/>
                </a:srgbClr>
              </a:solidFill>
              <a:uFill>
                <a:solidFill>
                  <a:srgbClr val="FFC107"/>
                </a:solidFill>
              </a:u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1455" algn="l" rtl="0" eaLnBrk="0">
              <a:lnSpc>
                <a:spcPct val="130000"/>
              </a:lnSpc>
              <a:spcBef>
                <a:spcPts val="340"/>
              </a:spcBef>
            </a:pPr>
            <a:r>
              <a:rPr sz="1100" kern="0" spc="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赛规约束 ｜ 参赛机器人须含 1 个 360° 全向激光雷达，立体相机与单目相机各不多于 1 个。</a:t>
            </a:r>
            <a:endParaRPr sz="1100" kern="0" spc="30" dirty="0">
              <a:solidFill>
                <a:srgbClr val="CFE0F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1455" algn="l" rtl="0" eaLnBrk="0">
              <a:lnSpc>
                <a:spcPct val="130000"/>
              </a:lnSpc>
              <a:spcBef>
                <a:spcPts val="340"/>
              </a:spcBef>
            </a:pPr>
            <a:r>
              <a:rPr sz="1100" kern="0" spc="2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窄道对位 ｜ 麦轮构型支持横向调整，为任务点位置与朝向校正提供运动能力。</a:t>
            </a:r>
            <a:endParaRPr sz="1100" kern="0" spc="20" dirty="0">
              <a:solidFill>
                <a:srgbClr val="CFE0F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1455" algn="l" rtl="0" eaLnBrk="0">
              <a:lnSpc>
                <a:spcPct val="130000"/>
              </a:lnSpc>
              <a:spcBef>
                <a:spcPts val="340"/>
              </a:spcBef>
            </a:pPr>
            <a:r>
              <a:rPr sz="1100" kern="0" spc="3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感知分工 ｜ 激光数据用于空间感知，相机图像用于目标识别，分别服务导航与巡检任务。</a:t>
            </a:r>
            <a:endParaRPr sz="1100" kern="0" spc="30" dirty="0">
              <a:solidFill>
                <a:srgbClr val="CFE0F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2725" algn="l" rtl="0" eaLnBrk="0">
              <a:lnSpc>
                <a:spcPct val="100000"/>
              </a:lnSpc>
              <a:spcBef>
                <a:spcPts val="0"/>
              </a:spcBef>
            </a:pPr>
            <a:r>
              <a:rPr sz="1000" b="1" kern="0" spc="5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上位机、实车激光雷达与相</a:t>
            </a:r>
            <a:r>
              <a:rPr sz="1000" b="1" kern="0" spc="4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机型号</a:t>
            </a:r>
            <a:r>
              <a:rPr lang="zh-CN" sz="1000" b="1" kern="0" spc="4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</a:t>
            </a:r>
            <a:r>
              <a:rPr sz="1000" b="1" kern="0" spc="4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</a:t>
            </a:r>
            <a:r>
              <a:rPr sz="1000" b="1" kern="0" spc="-17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kern="0" spc="4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，不先行假定。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13560" y="1061085"/>
            <a:ext cx="4659778" cy="2273792"/>
          </a:xfrm>
          <a:prstGeom prst="rect">
            <a:avLst/>
          </a:prstGeom>
        </p:spPr>
      </p:pic>
      <p:graphicFrame>
        <p:nvGraphicFramePr>
          <p:cNvPr id="302" name="table 30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29285" y="2112645"/>
          <a:ext cx="3684905" cy="2455545"/>
        </p:xfrm>
        <a:graphic>
          <a:graphicData uri="http://schemas.openxmlformats.org/drawingml/2006/table">
            <a:tbl>
              <a:tblPr/>
              <a:tblGrid>
                <a:gridCol w="1067435"/>
                <a:gridCol w="2617470"/>
              </a:tblGrid>
              <a:tr h="4527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" algn="l" rtl="0" eaLnBrk="0">
                        <a:lnSpc>
                          <a:spcPct val="88000"/>
                        </a:lnSpc>
                      </a:pPr>
                      <a:r>
                        <a:rPr sz="1000" kern="0" spc="4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100" b="1" kern="0" spc="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四麦克纳姆轮</a:t>
                      </a:r>
                      <a:endParaRPr sz="1100" b="1" kern="0" spc="10" dirty="0">
                        <a:solidFill>
                          <a:srgbClr val="1A223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44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000" kern="0" spc="4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仿真外廓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490"/>
                        </a:lnSpc>
                        <a:spcBef>
                          <a:spcPts val="0"/>
                        </a:spcBef>
                      </a:pP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334</a:t>
                      </a:r>
                      <a:r>
                        <a:rPr sz="1100" b="1" kern="0" spc="14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sz="1100" b="1" kern="0" spc="9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303</a:t>
                      </a:r>
                      <a:r>
                        <a:rPr sz="1100" b="1" kern="0" spc="15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 22</a:t>
                      </a:r>
                      <a:r>
                        <a:rPr sz="1100" b="1" kern="0" spc="-3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sz="1100" b="1" kern="0" spc="9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3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mm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" algn="l" rtl="0" eaLnBrk="0">
                        <a:lnSpc>
                          <a:spcPts val="1360"/>
                        </a:lnSpc>
                        <a:spcBef>
                          <a:spcPts val="0"/>
                        </a:spcBef>
                      </a:pPr>
                      <a:r>
                        <a:rPr sz="1000" kern="0" spc="3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轴距 / 轮距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490"/>
                        </a:lnSpc>
                        <a:spcBef>
                          <a:spcPts val="0"/>
                        </a:spcBef>
                      </a:pPr>
                      <a:r>
                        <a:rPr sz="1100" b="1" kern="0" spc="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0.23</a:t>
                      </a:r>
                      <a:r>
                        <a:rPr sz="1100" b="1" kern="0" spc="10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 / 0.25</a:t>
                      </a:r>
                      <a:r>
                        <a:rPr sz="1100" b="1" kern="0" spc="9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000" kern="0" spc="4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运动实现</a:t>
                      </a:r>
                      <a:endParaRPr sz="1000" kern="0" spc="40" dirty="0">
                        <a:solidFill>
                          <a:srgbClr val="8B97A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490"/>
                        </a:lnSpc>
                        <a:spcBef>
                          <a:spcPts val="0"/>
                        </a:spcBef>
                      </a:pPr>
                      <a:r>
                        <a:rPr sz="1100" b="1" kern="0" spc="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平面运动学仿真（planar_move）</a:t>
                      </a:r>
                      <a:endParaRPr sz="1100" b="1" kern="0" spc="0" dirty="0">
                        <a:solidFill>
                          <a:srgbClr val="1A223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000" kern="0" spc="4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激光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490"/>
                        </a:lnSpc>
                        <a:spcBef>
                          <a:spcPts val="5"/>
                        </a:spcBef>
                      </a:pP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360 束</a:t>
                      </a:r>
                      <a:r>
                        <a:rPr sz="1100" b="1" kern="0" spc="9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· 0.12–3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.5</a:t>
                      </a:r>
                      <a:r>
                        <a:rPr sz="1100" b="1" kern="0" spc="9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</a:t>
                      </a:r>
                      <a:r>
                        <a:rPr sz="1100" b="1" kern="0" spc="10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·</a:t>
                      </a:r>
                      <a:r>
                        <a:rPr sz="1100" b="1" kern="0" spc="10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sz="1100" b="1" kern="0" spc="10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Hz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0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000" kern="0" spc="4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前向相机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490"/>
                        </a:lnSpc>
                        <a:spcBef>
                          <a:spcPts val="0"/>
                        </a:spcBef>
                      </a:pP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77°</a:t>
                      </a:r>
                      <a:r>
                        <a:rPr sz="1100" b="1" kern="0" spc="14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RGB-D</a:t>
                      </a:r>
                      <a:r>
                        <a:rPr sz="1100" b="1" kern="0" spc="10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·</a:t>
                      </a:r>
                      <a:r>
                        <a:rPr sz="1100" b="1" kern="0" spc="1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1280×720</a:t>
                      </a:r>
                      <a:r>
                        <a:rPr sz="1100" b="1" kern="0" spc="9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· 20</a:t>
                      </a:r>
                      <a:r>
                        <a:rPr sz="1100" b="1" kern="0" spc="10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Hz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" algn="l" rtl="0" eaLnBrk="0">
                        <a:lnSpc>
                          <a:spcPct val="88000"/>
                        </a:lnSpc>
                      </a:pPr>
                      <a:r>
                        <a:rPr sz="1000" kern="0" spc="40" dirty="0">
                          <a:solidFill>
                            <a:srgbClr val="8B97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任务相机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435"/>
                        </a:lnSpc>
                        <a:spcBef>
                          <a:spcPts val="0"/>
                        </a:spcBef>
                      </a:pP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140° 单目</a:t>
                      </a:r>
                      <a:r>
                        <a:rPr sz="1100" b="1" kern="0" spc="9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· 上仰</a:t>
                      </a:r>
                      <a:r>
                        <a:rPr sz="1100" b="1" kern="0" spc="6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8°</a:t>
                      </a:r>
                      <a:r>
                        <a:rPr sz="1100" b="1" kern="0" spc="10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·</a:t>
                      </a:r>
                      <a:r>
                        <a:rPr sz="1100" b="1" kern="0" spc="10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sz="1100" b="1" kern="0" spc="11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b="1" kern="0" spc="-20" dirty="0">
                          <a:solidFill>
                            <a:srgbClr val="1A223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Hz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 rot="21600000">
            <a:off x="407036" y="4681855"/>
            <a:ext cx="4112260" cy="1544320"/>
            <a:chOff x="-29994" y="-55245"/>
            <a:chExt cx="3719345" cy="1544320"/>
          </a:xfrm>
        </p:grpSpPr>
        <p:pic>
          <p:nvPicPr>
            <p:cNvPr id="304" name="picture 3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689350" cy="1489075"/>
            </a:xfrm>
            <a:prstGeom prst="rect">
              <a:avLst/>
            </a:prstGeom>
          </p:spPr>
        </p:pic>
        <p:sp>
          <p:nvSpPr>
            <p:cNvPr id="306" name="textbox 306"/>
            <p:cNvSpPr/>
            <p:nvPr/>
          </p:nvSpPr>
          <p:spPr>
            <a:xfrm>
              <a:off x="-29994" y="-55245"/>
              <a:ext cx="3719345" cy="1528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6845" algn="l" rtl="0" eaLnBrk="0">
                <a:lnSpc>
                  <a:spcPct val="88000"/>
                </a:lnSpc>
              </a:pPr>
              <a:r>
                <a:rPr sz="1000" kern="0" spc="40" dirty="0">
                  <a:solidFill>
                    <a:srgbClr val="8B97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传感器分工</a:t>
              </a:r>
              <a:endParaRPr sz="1000" kern="0" spc="4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5575" algn="l" rtl="0" eaLnBrk="0">
                <a:lnSpc>
                  <a:spcPct val="86000"/>
                </a:lnSpc>
                <a:spcBef>
                  <a:spcPts val="1240"/>
                </a:spcBef>
              </a:pPr>
              <a:r>
                <a:rPr sz="1100" kern="0" spc="3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激光雷达 ｜ 提供建图、定位与避障所需的激光数据。</a:t>
              </a:r>
              <a:endParaRPr sz="1100" kern="0" spc="3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4305" indent="-635" algn="l" rtl="0" eaLnBrk="0">
                <a:lnSpc>
                  <a:spcPct val="159000"/>
                </a:lnSpc>
                <a:spcBef>
                  <a:spcPts val="30"/>
                </a:spcBef>
              </a:pPr>
              <a:r>
                <a:rPr sz="1100" kern="0" spc="2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前向 RGB-D ｜ 当前视觉流程使用其 RGB 图像，完成灯态判断与任务点取景识别。</a:t>
              </a:r>
              <a:endParaRPr sz="1100" kern="0" spc="2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5575" algn="l" rtl="0" eaLnBrk="0">
                <a:lnSpc>
                  <a:spcPct val="115000"/>
                </a:lnSpc>
                <a:spcBef>
                  <a:spcPts val="1000"/>
                </a:spcBef>
              </a:pPr>
              <a:r>
                <a:rPr sz="1100" kern="0" spc="20" dirty="0">
                  <a:solidFill>
                    <a:srgbClr val="4A556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广角任务相机 ｜ 提供补充观察视角，用于后续取景调整。</a:t>
              </a:r>
              <a:endParaRPr sz="1100" kern="0" spc="2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08" name="textbox 308"/>
          <p:cNvSpPr/>
          <p:nvPr/>
        </p:nvSpPr>
        <p:spPr>
          <a:xfrm>
            <a:off x="4867612" y="3598166"/>
            <a:ext cx="6764655" cy="358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7000"/>
              </a:lnSpc>
            </a:pPr>
            <a:r>
              <a:rPr sz="12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俯视示意 · 视场按标称角绘制的扇形示意，射线长度不按比例</a:t>
            </a:r>
            <a:endParaRPr sz="1200" kern="0" spc="30" dirty="0">
              <a:solidFill>
                <a:srgbClr val="8B97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27000"/>
              </a:lnSpc>
            </a:pPr>
            <a:r>
              <a:rPr sz="1200" kern="0" spc="2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 77° RGB-D 前向相机，当前视觉流程使用其 RGB 图像；黄 140° 单目广角任务相机，上仰 8°。</a:t>
            </a:r>
            <a:endParaRPr sz="1200" kern="0" spc="20" dirty="0">
              <a:solidFill>
                <a:srgbClr val="8B97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407697" y="379818"/>
            <a:ext cx="5530215" cy="359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500" b="1" kern="0" spc="5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机器人平台与传感器配置</a:t>
            </a:r>
            <a:endParaRPr sz="2500" b="1" kern="0" spc="50" dirty="0">
              <a:solidFill>
                <a:srgbClr val="0E3F8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609838" y="982694"/>
            <a:ext cx="3632200" cy="889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8000"/>
              </a:lnSpc>
            </a:pPr>
            <a:r>
              <a:rPr sz="1600" b="1" kern="0" spc="7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当前仿真平台</a:t>
            </a:r>
            <a:endParaRPr sz="1600" b="1" kern="0" spc="70" dirty="0">
              <a:solidFill>
                <a:srgbClr val="0E3F8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300"/>
              </a:spcBef>
            </a:pPr>
            <a:r>
              <a:rPr sz="1200" kern="0" spc="2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四麦克纳姆轮底盘，运动由平面运动学仿真实现，支持纵移、横移与旋转；外廓与轴距、轮距见下表。</a:t>
            </a:r>
            <a:endParaRPr sz="1200" kern="0" spc="2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ts val="1360"/>
              </a:lnSpc>
              <a:spcBef>
                <a:spcPts val="0"/>
              </a:spcBef>
            </a:pPr>
            <a:r>
              <a:rPr sz="1200" kern="0" spc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参数取自 urdf/sq_mecanum_334.urdf.xacro</a:t>
            </a:r>
            <a:endParaRPr sz="1200" kern="0" spc="0" dirty="0">
              <a:solidFill>
                <a:srgbClr val="8B97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6" name="path 316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8375650" y="158750"/>
            <a:ext cx="4655820" cy="610870"/>
            <a:chOff x="14688" y="261"/>
            <a:chExt cx="7332" cy="962"/>
          </a:xfrm>
        </p:grpSpPr>
        <p:sp>
          <p:nvSpPr>
            <p:cNvPr id="176" name="1"/>
            <p:cNvSpPr/>
            <p:nvPr>
              <p:custDataLst>
                <p:tags r:id="rId5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7629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5410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 视觉识别 ·</a:t>
              </a:r>
              <a:r>
                <a:rPr sz="2000" kern="0" spc="7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工程判断</a:t>
              </a:r>
              <a:r>
                <a:rPr sz="2000" kern="0" spc="8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· 进度</a:t>
              </a:r>
              <a:endPara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0000"/>
                </a:lnSpc>
              </a:pPr>
              <a:endParaRPr sz="2000" kern="0" spc="2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12750" y="6249670"/>
            <a:ext cx="6096000" cy="485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智慧社区复赛答辩 · close_ai</a:t>
            </a:r>
            <a:r>
              <a:rPr sz="1000" kern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14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/16</a:t>
            </a:r>
            <a:endParaRPr lang="zh-CN" altLang="en-US" sz="1100" b="1" kern="0" spc="30" dirty="0">
              <a:solidFill>
                <a:srgbClr val="1E4F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picture 3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12750" y="3365500"/>
            <a:ext cx="6680200" cy="2870200"/>
          </a:xfrm>
          <a:prstGeom prst="rect">
            <a:avLst/>
          </a:prstGeom>
        </p:spPr>
      </p:pic>
      <p:sp>
        <p:nvSpPr>
          <p:cNvPr id="324" name="rect 324"/>
          <p:cNvSpPr/>
          <p:nvPr/>
        </p:nvSpPr>
        <p:spPr>
          <a:xfrm>
            <a:off x="647700" y="4975860"/>
            <a:ext cx="876300" cy="257936"/>
          </a:xfrm>
          <a:prstGeom prst="rect">
            <a:avLst/>
          </a:prstGeom>
          <a:solidFill>
            <a:srgbClr val="E8EF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" name="rect 326"/>
          <p:cNvSpPr/>
          <p:nvPr/>
        </p:nvSpPr>
        <p:spPr>
          <a:xfrm>
            <a:off x="647700" y="4109085"/>
            <a:ext cx="876300" cy="257175"/>
          </a:xfrm>
          <a:prstGeom prst="rect">
            <a:avLst/>
          </a:prstGeom>
          <a:solidFill>
            <a:srgbClr val="E8EF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" name="rect 328"/>
          <p:cNvSpPr/>
          <p:nvPr/>
        </p:nvSpPr>
        <p:spPr>
          <a:xfrm>
            <a:off x="647700" y="4542409"/>
            <a:ext cx="876300" cy="257555"/>
          </a:xfrm>
          <a:prstGeom prst="rect">
            <a:avLst/>
          </a:prstGeom>
          <a:solidFill>
            <a:srgbClr val="E8EF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textbox 330"/>
          <p:cNvSpPr/>
          <p:nvPr/>
        </p:nvSpPr>
        <p:spPr>
          <a:xfrm>
            <a:off x="725170" y="3435985"/>
            <a:ext cx="6256020" cy="2018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88000"/>
              </a:lnSpc>
            </a:pPr>
            <a:endParaRPr sz="2000" b="1" u="sng" kern="0" spc="70" dirty="0">
              <a:solidFill>
                <a:srgbClr val="0E3F8C">
                  <a:alpha val="100000"/>
                </a:srgbClr>
              </a:solidFill>
              <a:uFill>
                <a:solidFill>
                  <a:srgbClr val="1E4FA8"/>
                </a:solidFill>
              </a:u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" algn="l" rtl="0" eaLnBrk="0">
              <a:lnSpc>
                <a:spcPct val="88000"/>
              </a:lnSpc>
            </a:pPr>
            <a:endParaRPr sz="2000" b="1" u="sng" kern="0" spc="70" dirty="0">
              <a:solidFill>
                <a:srgbClr val="0E3F8C">
                  <a:alpha val="100000"/>
                </a:srgbClr>
              </a:solidFill>
              <a:uFill>
                <a:solidFill>
                  <a:srgbClr val="1E4FA8"/>
                </a:solidFill>
              </a:u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r>
              <a:rPr sz="2000" b="1" kern="0" spc="20" baseline="1200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运动滑移</a:t>
            </a:r>
            <a:r>
              <a:rPr sz="1400" b="1" kern="0" spc="2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400" kern="0" spc="2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直行、横移与旋转测试，比较指令与实际位姿并重标里程计。</a:t>
            </a:r>
            <a:endParaRPr sz="1400" kern="0" spc="2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400" kern="0" spc="2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r>
              <a:rPr sz="2000" b="1" kern="0" spc="20" baseline="1300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光照反光</a:t>
            </a:r>
            <a:r>
              <a:rPr sz="1400" b="1" kern="0" spc="2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400" kern="0" spc="2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采集不同时段与灯位图像，复核灯态、人偶与车牌结果。</a:t>
            </a:r>
            <a:endParaRPr sz="1400" kern="0" spc="2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r>
              <a:rPr lang="en-US" sz="2000" b="1" kern="0" spc="10" baseline="1300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2000" b="1" kern="0" spc="10" baseline="13000" dirty="0">
              <a:solidFill>
                <a:srgbClr val="1E4F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r>
              <a:rPr sz="2000" b="1" kern="0" spc="10" baseline="1300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系统时序</a:t>
            </a:r>
            <a:r>
              <a:rPr sz="1400" b="1" kern="0" spc="1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sz="1400" b="1" kern="0" spc="1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10" dirty="0">
                <a:solidFill>
                  <a:srgbClr val="4A556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检查数据时效与请求超时，验证等待、记录与恢复行为。</a:t>
            </a:r>
            <a:endParaRPr sz="1400" kern="0" spc="10" dirty="0">
              <a:solidFill>
                <a:srgbClr val="4A556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32" name="table 332"/>
          <p:cNvGraphicFramePr>
            <a:graphicFrameLocks noGrp="1"/>
          </p:cNvGraphicFramePr>
          <p:nvPr/>
        </p:nvGraphicFramePr>
        <p:xfrm>
          <a:off x="412750" y="869950"/>
          <a:ext cx="3613150" cy="2355850"/>
        </p:xfrm>
        <a:graphic>
          <a:graphicData uri="http://schemas.openxmlformats.org/drawingml/2006/table">
            <a:tbl>
              <a:tblPr/>
              <a:tblGrid>
                <a:gridCol w="3613150"/>
              </a:tblGrid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736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002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500" b="1" kern="0" spc="-2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接口适配</a:t>
                      </a:r>
                      <a:endParaRPr sz="1500" b="1" kern="0" spc="-20" dirty="0">
                        <a:solidFill>
                          <a:srgbClr val="0E3F8C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8280" algn="l" rtl="0" eaLnBrk="0">
                        <a:lnSpc>
                          <a:spcPts val="1390"/>
                        </a:lnSpc>
                        <a:spcBef>
                          <a:spcPts val="705"/>
                        </a:spcBef>
                      </a:pPr>
                      <a:r>
                        <a:rPr sz="1000" b="1" kern="0" spc="0" dirty="0">
                          <a:solidFill>
                            <a:srgbClr val="1E4F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接入实车驱动，统一坐标系与时间戳</a:t>
                      </a:r>
                      <a:endParaRPr sz="1000" b="1" kern="0" spc="0" dirty="0">
                        <a:solidFill>
                          <a:srgbClr val="1E4FA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755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1100" kern="0" spc="2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接入实车底盘、激光与相机驱动，核对速度指令与图</a:t>
                      </a: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1100" kern="0" spc="2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像消息。</a:t>
                      </a: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1100" kern="0" spc="2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统一坐标系、TF 与时间戳，核对更新频率。</a:t>
                      </a: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1100" kern="0" spc="2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接口兼容后复用任务调度与结果记录模块。</a:t>
                      </a: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34" name="table 334"/>
          <p:cNvGraphicFramePr>
            <a:graphicFrameLocks noGrp="1"/>
          </p:cNvGraphicFramePr>
          <p:nvPr/>
        </p:nvGraphicFramePr>
        <p:xfrm>
          <a:off x="4289425" y="869950"/>
          <a:ext cx="3613150" cy="2355850"/>
        </p:xfrm>
        <a:graphic>
          <a:graphicData uri="http://schemas.openxmlformats.org/drawingml/2006/table">
            <a:tbl>
              <a:tblPr>
                <a:solidFill>
                  <a:srgbClr val="F0F5FC"/>
                </a:solidFill>
              </a:tblPr>
              <a:tblGrid>
                <a:gridCol w="3613150"/>
              </a:tblGrid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</a:tr>
              <a:tr h="1736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12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500" b="1" kern="0" spc="-1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参数标定</a:t>
                      </a:r>
                      <a:endParaRPr sz="1500" b="1" kern="0" spc="-10" dirty="0">
                        <a:solidFill>
                          <a:srgbClr val="0E3F8C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8280" algn="l" rtl="0" eaLnBrk="0">
                        <a:lnSpc>
                          <a:spcPts val="1390"/>
                        </a:lnSpc>
                        <a:spcBef>
                          <a:spcPts val="700"/>
                        </a:spcBef>
                      </a:pPr>
                      <a:r>
                        <a:rPr sz="1000" b="1" kern="0" spc="0" dirty="0">
                          <a:solidFill>
                            <a:srgbClr val="1E4F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hlinkClick r:id="rId2"/>
                        </a:rPr>
                        <a:t>里程计与相机标定，重设观察点与阈值</a:t>
                      </a:r>
                      <a:endParaRPr sz="1000" b="1" kern="0" spc="0" dirty="0">
                        <a:solidFill>
                          <a:srgbClr val="1E4FA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755" indent="11430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1100" kern="0" spc="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标定轮径、轴距与里程计尺度，测试横移偏差。</a:t>
                      </a:r>
                      <a:endParaRPr sz="1100" kern="0" spc="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1100" kern="0" spc="2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标定相机内外参，调整观察点与识别阈值。</a:t>
                      </a: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1100" kern="0" spc="2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依据实车表现调整速度限制与代价地图参数。</a:t>
                      </a: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6" name="table 336"/>
          <p:cNvGraphicFramePr>
            <a:graphicFrameLocks noGrp="1"/>
          </p:cNvGraphicFramePr>
          <p:nvPr/>
        </p:nvGraphicFramePr>
        <p:xfrm>
          <a:off x="8166100" y="869315"/>
          <a:ext cx="3613150" cy="2355850"/>
        </p:xfrm>
        <a:graphic>
          <a:graphicData uri="http://schemas.openxmlformats.org/drawingml/2006/table">
            <a:tbl>
              <a:tblPr/>
              <a:tblGrid>
                <a:gridCol w="3613150"/>
              </a:tblGrid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736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29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500" b="1" kern="0" spc="-20" dirty="0">
                          <a:solidFill>
                            <a:srgbClr val="0E3F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分级验证</a:t>
                      </a:r>
                      <a:endParaRPr sz="1500" b="1" kern="0" spc="-20" dirty="0">
                        <a:solidFill>
                          <a:srgbClr val="0E3F8C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87000"/>
                        </a:lnSpc>
                        <a:spcBef>
                          <a:spcPts val="935"/>
                        </a:spcBef>
                      </a:pPr>
                      <a:r>
                        <a:rPr sz="1000" b="1" kern="0" spc="40" dirty="0">
                          <a:solidFill>
                            <a:srgbClr val="1E4F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单点 → 分段 → 整圈，逐级记录</a:t>
                      </a:r>
                      <a:endParaRPr sz="1000" b="1" kern="0" spc="40" dirty="0">
                        <a:solidFill>
                          <a:srgbClr val="1E4FA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755" algn="l" rtl="0" eaLnBrk="0">
                        <a:lnSpc>
                          <a:spcPct val="145000"/>
                        </a:lnSpc>
                        <a:spcBef>
                          <a:spcPts val="0"/>
                        </a:spcBef>
                      </a:pPr>
                      <a:r>
                        <a:rPr sz="1100" kern="0" spc="2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单点测试：检查运动方向、定位数据与停车响应。</a:t>
                      </a: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1100" kern="0" spc="2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分段测试：验证窄道通行、转弯对位与信号灯等待。</a:t>
                      </a: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1100" kern="0" spc="20" dirty="0">
                          <a:solidFill>
                            <a:srgbClr val="4A556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整圈测试：记录任务完成、道路约束与异常恢复。</a:t>
                      </a: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8" name="textbox 338"/>
          <p:cNvSpPr/>
          <p:nvPr/>
        </p:nvSpPr>
        <p:spPr>
          <a:xfrm>
            <a:off x="422624" y="312649"/>
            <a:ext cx="5070475" cy="45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370"/>
              </a:lnSpc>
            </a:pPr>
            <a:r>
              <a:rPr sz="2500" b="1" kern="0" spc="0" dirty="0">
                <a:solidFill>
                  <a:srgbClr val="0E3F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实车迁移方案与后续工作</a:t>
            </a:r>
            <a:endParaRPr sz="2500" b="1" kern="0" spc="0" dirty="0">
              <a:solidFill>
                <a:srgbClr val="0E3F8C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2" name="path 342"/>
          <p:cNvSpPr/>
          <p:nvPr/>
        </p:nvSpPr>
        <p:spPr>
          <a:xfrm>
            <a:off x="0" y="0"/>
            <a:ext cx="12192000" cy="57911"/>
          </a:xfrm>
          <a:custGeom>
            <a:avLst/>
            <a:gdLst/>
            <a:ahLst/>
            <a:cxnLst/>
            <a:rect l="0" t="0" r="0" b="0"/>
            <a:pathLst>
              <a:path w="19200" h="91">
                <a:moveTo>
                  <a:pt x="0" y="0"/>
                </a:moveTo>
                <a:lnTo>
                  <a:pt x="19200" y="0"/>
                </a:lnTo>
                <a:lnTo>
                  <a:pt x="19200" y="91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4" name="textbox 344"/>
          <p:cNvSpPr/>
          <p:nvPr/>
        </p:nvSpPr>
        <p:spPr>
          <a:xfrm>
            <a:off x="636473" y="5788916"/>
            <a:ext cx="6210300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ts val="1360"/>
              </a:lnSpc>
            </a:pPr>
            <a:r>
              <a:rPr sz="1200" kern="0" spc="1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域随机化与实车数据采集列入后续工作，用于补齐仿真与实车的感知差异。</a:t>
            </a:r>
            <a:endParaRPr sz="1200" kern="0" spc="10" dirty="0">
              <a:solidFill>
                <a:srgbClr val="8B97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8" name="textbox 348"/>
          <p:cNvSpPr/>
          <p:nvPr/>
        </p:nvSpPr>
        <p:spPr>
          <a:xfrm>
            <a:off x="8362950" y="1047750"/>
            <a:ext cx="382270" cy="382270"/>
          </a:xfrm>
          <a:prstGeom prst="rect">
            <a:avLst/>
          </a:prstGeom>
          <a:solidFill>
            <a:srgbClr val="0E3F8C">
              <a:alpha val="97647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2075" algn="l" rtl="0" eaLnBrk="0">
              <a:lnSpc>
                <a:spcPts val="1785"/>
              </a:lnSpc>
              <a:spcBef>
                <a:spcPts val="5"/>
              </a:spcBef>
            </a:pPr>
            <a:r>
              <a:rPr sz="1300" b="1" kern="0" spc="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0" name="textbox 350"/>
          <p:cNvSpPr/>
          <p:nvPr/>
        </p:nvSpPr>
        <p:spPr>
          <a:xfrm>
            <a:off x="4486275" y="1047750"/>
            <a:ext cx="381634" cy="382270"/>
          </a:xfrm>
          <a:prstGeom prst="rect">
            <a:avLst/>
          </a:pr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2075" algn="l" rtl="0" eaLnBrk="0">
              <a:lnSpc>
                <a:spcPts val="1785"/>
              </a:lnSpc>
              <a:spcBef>
                <a:spcPts val="5"/>
              </a:spcBef>
            </a:pPr>
            <a:r>
              <a:rPr sz="1300" b="1" kern="0" spc="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609600" y="1047750"/>
            <a:ext cx="381000" cy="382270"/>
          </a:xfrm>
          <a:prstGeom prst="rect">
            <a:avLst/>
          </a:prstGeom>
          <a:solidFill>
            <a:srgbClr val="0E3F8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2075" algn="l" rtl="0" eaLnBrk="0">
              <a:lnSpc>
                <a:spcPts val="1785"/>
              </a:lnSpc>
              <a:spcBef>
                <a:spcPts val="5"/>
              </a:spcBef>
            </a:pPr>
            <a:r>
              <a:rPr sz="1300" b="1" kern="0" spc="0" dirty="0">
                <a:solidFill>
                  <a:srgbClr val="FFC10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4" name="path 354"/>
          <p:cNvSpPr/>
          <p:nvPr/>
        </p:nvSpPr>
        <p:spPr>
          <a:xfrm>
            <a:off x="647700" y="5686044"/>
            <a:ext cx="6210300" cy="10667"/>
          </a:xfrm>
          <a:custGeom>
            <a:avLst/>
            <a:gdLst/>
            <a:ahLst/>
            <a:cxnLst/>
            <a:rect l="0" t="0" r="0" b="0"/>
            <a:pathLst>
              <a:path w="9780" h="16">
                <a:moveTo>
                  <a:pt x="0" y="0"/>
                </a:moveTo>
                <a:lnTo>
                  <a:pt x="9780" y="0"/>
                </a:lnTo>
                <a:lnTo>
                  <a:pt x="9780" y="16"/>
                </a:ln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6" name="textbox 356"/>
          <p:cNvSpPr/>
          <p:nvPr/>
        </p:nvSpPr>
        <p:spPr>
          <a:xfrm>
            <a:off x="4044340" y="1988870"/>
            <a:ext cx="245109" cy="175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75"/>
              </a:lnSpc>
            </a:pPr>
            <a:r>
              <a:rPr sz="1700" b="1" kern="0" spc="1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7921015" y="1988870"/>
            <a:ext cx="245109" cy="175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75"/>
              </a:lnSpc>
            </a:pPr>
            <a:r>
              <a:rPr sz="1700" b="1" kern="0" spc="10" dirty="0">
                <a:solidFill>
                  <a:srgbClr val="3D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390255" y="158115"/>
            <a:ext cx="4655820" cy="610870"/>
            <a:chOff x="14688" y="261"/>
            <a:chExt cx="7332" cy="962"/>
          </a:xfrm>
        </p:grpSpPr>
        <p:sp>
          <p:nvSpPr>
            <p:cNvPr id="176" name="1"/>
            <p:cNvSpPr/>
            <p:nvPr>
              <p:custDataLst>
                <p:tags r:id="rId3"/>
              </p:custDataLst>
            </p:nvPr>
          </p:nvSpPr>
          <p:spPr>
            <a:xfrm flipV="1">
              <a:off x="14688" y="261"/>
              <a:ext cx="7332" cy="962"/>
            </a:xfrm>
            <a:prstGeom prst="parallelogram">
              <a:avLst>
                <a:gd name="adj" fmla="val 37629"/>
              </a:avLst>
            </a:prstGeom>
            <a:gradFill flip="none" rotWithShape="1">
              <a:gsLst>
                <a:gs pos="81000">
                  <a:srgbClr val="D8EAF1"/>
                </a:gs>
                <a:gs pos="45000">
                  <a:srgbClr val="0064B4"/>
                </a:gs>
                <a:gs pos="9000">
                  <a:srgbClr val="095BCD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TC"/>
                <a:ea typeface="HarmonyOS Sans SC"/>
                <a:cs typeface="+mn-cs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5085" y="398"/>
              <a:ext cx="5410" cy="68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2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</a:pP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 视觉识别 ·</a:t>
              </a:r>
              <a:r>
                <a:rPr sz="2000" kern="0" spc="7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工程判断</a:t>
              </a:r>
              <a:r>
                <a:rPr sz="2000" kern="0" spc="8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sz="2000" kern="0" spc="10" dirty="0">
                  <a:solidFill>
                    <a:schemeClr val="bg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· 进度</a:t>
              </a:r>
              <a:endPara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0000"/>
                </a:lnSpc>
              </a:pPr>
              <a:endParaRPr sz="2000" kern="0" spc="2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11480" y="6201410"/>
            <a:ext cx="6096000" cy="485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90"/>
              </a:lnSpc>
            </a:pPr>
            <a:r>
              <a:rPr sz="1400" kern="0" spc="3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智慧社区复赛答辩 · close_ai </a:t>
            </a:r>
            <a:r>
              <a:rPr sz="1000" kern="0" dirty="0">
                <a:solidFill>
                  <a:srgbClr val="8B97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</a:t>
            </a:r>
            <a:r>
              <a:rPr sz="1100" b="1" kern="0" spc="30" dirty="0">
                <a:solidFill>
                  <a:srgbClr val="1E4F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/16</a:t>
            </a:r>
            <a:endParaRPr lang="zh-CN" altLang="en-US" sz="1100" b="1" kern="0" spc="30" dirty="0">
              <a:solidFill>
                <a:srgbClr val="1E4F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35242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 u="sng" kern="0" spc="70" dirty="0">
                <a:solidFill>
                  <a:srgbClr val="0E3F8C">
                    <a:alpha val="100000"/>
                  </a:srgbClr>
                </a:solidFill>
                <a:uFill>
                  <a:solidFill>
                    <a:srgbClr val="1E4FA8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迁移风险与验证方法</a:t>
            </a:r>
            <a:endParaRPr b="1" u="sng" kern="0" spc="70" dirty="0">
              <a:solidFill>
                <a:srgbClr val="0E3F8C">
                  <a:alpha val="100000"/>
                </a:srgbClr>
              </a:solidFill>
              <a:uFill>
                <a:solidFill>
                  <a:srgbClr val="1E4FA8"/>
                </a:solidFill>
              </a:u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  <p:graphicFrame>
        <p:nvGraphicFramePr>
          <p:cNvPr id="4" name="table 336"/>
          <p:cNvGraphicFramePr>
            <a:graphicFrameLocks noGrp="1"/>
          </p:cNvGraphicFramePr>
          <p:nvPr/>
        </p:nvGraphicFramePr>
        <p:xfrm>
          <a:off x="7359650" y="3359150"/>
          <a:ext cx="4418965" cy="2874645"/>
        </p:xfrm>
        <a:graphic>
          <a:graphicData uri="http://schemas.openxmlformats.org/drawingml/2006/table">
            <a:tbl>
              <a:tblPr/>
              <a:tblGrid>
                <a:gridCol w="4418965"/>
              </a:tblGrid>
              <a:tr h="755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1189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29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endParaRPr sz="1100" kern="0" spc="20" dirty="0">
                        <a:solidFill>
                          <a:srgbClr val="4A5568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图片 4" descr="41_RETURN"/>
          <p:cNvPicPr>
            <a:picLocks noChangeAspect="1"/>
          </p:cNvPicPr>
          <p:nvPr/>
        </p:nvPicPr>
        <p:blipFill>
          <a:blip r:embed="rId4"/>
          <a:srcRect t="20889" r="35484" b="29375"/>
          <a:stretch>
            <a:fillRect/>
          </a:stretch>
        </p:blipFill>
        <p:spPr>
          <a:xfrm>
            <a:off x="7359650" y="3368675"/>
            <a:ext cx="4410075" cy="28727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633095" y="0"/>
            <a:ext cx="6729730" cy="6858000"/>
            <a:chOff x="-997" y="0"/>
            <a:chExt cx="10598" cy="10800"/>
          </a:xfrm>
          <a:gradFill>
            <a:gsLst>
              <a:gs pos="86000">
                <a:srgbClr val="023355">
                  <a:alpha val="70000"/>
                </a:srgbClr>
              </a:gs>
              <a:gs pos="0">
                <a:srgbClr val="082050">
                  <a:alpha val="100000"/>
                </a:srgbClr>
              </a:gs>
              <a:gs pos="61000">
                <a:srgbClr val="023355">
                  <a:alpha val="100000"/>
                </a:srgbClr>
              </a:gs>
              <a:gs pos="0">
                <a:srgbClr val="0E0C4B"/>
              </a:gs>
              <a:gs pos="100000">
                <a:srgbClr val="070948">
                  <a:alpha val="28000"/>
                </a:srgbClr>
              </a:gs>
            </a:gsLst>
            <a:lin ang="0" scaled="0"/>
          </a:gradFill>
          <a:effectLst/>
        </p:grpSpPr>
        <p:pic>
          <p:nvPicPr>
            <p:cNvPr id="8" name="图片 7" descr="arch_bg"/>
            <p:cNvPicPr>
              <a:picLocks noChangeAspect="1"/>
            </p:cNvPicPr>
            <p:nvPr/>
          </p:nvPicPr>
          <p:blipFill>
            <a:blip r:embed="rId1">
              <a:alphaModFix amt="83000"/>
            </a:blip>
            <a:stretch>
              <a:fillRect/>
            </a:stretch>
          </p:blipFill>
          <p:spPr>
            <a:xfrm rot="16200000">
              <a:off x="-1098" y="101"/>
              <a:ext cx="10800" cy="10599"/>
            </a:xfrm>
            <a:prstGeom prst="rect">
              <a:avLst/>
            </a:prstGeom>
            <a:grpFill/>
          </p:spPr>
        </p:pic>
        <p:sp>
          <p:nvSpPr>
            <p:cNvPr id="9" name="rect 2"/>
            <p:cNvSpPr/>
            <p:nvPr/>
          </p:nvSpPr>
          <p:spPr>
            <a:xfrm>
              <a:off x="0" y="0"/>
              <a:ext cx="9600" cy="10800"/>
            </a:xfrm>
            <a:prstGeom prst="rect">
              <a:avLst/>
            </a:prstGeom>
            <a:grpFill/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06" name="textbox 406"/>
          <p:cNvSpPr/>
          <p:nvPr/>
        </p:nvSpPr>
        <p:spPr>
          <a:xfrm>
            <a:off x="520700" y="616585"/>
            <a:ext cx="2662555" cy="2709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1485" algn="l" rtl="0" eaLnBrk="0">
              <a:lnSpc>
                <a:spcPct val="87000"/>
              </a:lnSpc>
              <a:tabLst>
                <a:tab pos="584835" algn="l"/>
              </a:tabLst>
            </a:pPr>
            <a:r>
              <a:rPr sz="1200" kern="0" spc="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kern="0" spc="-3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</a:t>
            </a:r>
            <a:r>
              <a:rPr sz="1200" kern="0" spc="-11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慧</a:t>
            </a:r>
            <a:r>
              <a:rPr sz="1200" kern="0" spc="-19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</a:t>
            </a:r>
            <a:r>
              <a:rPr sz="1200" kern="0" spc="-9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  ·  复</a:t>
            </a:r>
            <a:r>
              <a:rPr sz="1200" kern="0" spc="-19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</a:t>
            </a:r>
            <a:r>
              <a:rPr sz="1200" kern="0" spc="-20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</a:t>
            </a:r>
            <a:r>
              <a:rPr sz="1200" kern="0" spc="-18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B9CD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辩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ct val="87000"/>
              </a:lnSpc>
              <a:spcBef>
                <a:spcPts val="1145"/>
              </a:spcBef>
            </a:pPr>
            <a:r>
              <a:rPr lang="zh-CN" sz="44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感谢垂听</a:t>
            </a:r>
            <a:endParaRPr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8000"/>
              </a:lnSpc>
              <a:spcBef>
                <a:spcPts val="5"/>
              </a:spcBef>
            </a:pPr>
            <a:r>
              <a:rPr sz="1900" kern="0" spc="4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恳请</a:t>
            </a:r>
            <a:r>
              <a:rPr lang="zh-CN" sz="1900" kern="0" spc="4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批评</a:t>
            </a:r>
            <a:r>
              <a:rPr sz="1900" kern="0" spc="40" dirty="0">
                <a:solidFill>
                  <a:srgbClr val="CFE0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指正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path 408"/>
          <p:cNvSpPr/>
          <p:nvPr/>
        </p:nvSpPr>
        <p:spPr>
          <a:xfrm>
            <a:off x="533400" y="685800"/>
            <a:ext cx="438911" cy="38100"/>
          </a:xfrm>
          <a:custGeom>
            <a:avLst/>
            <a:gdLst/>
            <a:ahLst/>
            <a:cxnLst/>
            <a:rect l="0" t="0" r="0" b="0"/>
            <a:pathLst>
              <a:path w="691" h="60">
                <a:moveTo>
                  <a:pt x="0" y="0"/>
                </a:moveTo>
                <a:lnTo>
                  <a:pt x="691" y="0"/>
                </a:lnTo>
                <a:lnTo>
                  <a:pt x="691" y="60"/>
                </a:lnTo>
                <a:lnTo>
                  <a:pt x="0" y="60"/>
                </a:lnTo>
                <a:lnTo>
                  <a:pt x="0" y="0"/>
                </a:lnTo>
                <a:close/>
              </a:path>
            </a:pathLst>
          </a:custGeom>
          <a:solidFill>
            <a:srgbClr val="3D7B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0" name="textbox 410"/>
          <p:cNvSpPr/>
          <p:nvPr/>
        </p:nvSpPr>
        <p:spPr>
          <a:xfrm>
            <a:off x="522168" y="3883500"/>
            <a:ext cx="4741545" cy="538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sz="1200" kern="0" spc="5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方案已在 </a:t>
            </a:r>
            <a:r>
              <a:rPr sz="1200" kern="0" spc="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Gazebo</a:t>
            </a:r>
            <a:r>
              <a:rPr sz="1200" kern="0" spc="5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仿真中闭环运行</a:t>
            </a:r>
            <a:r>
              <a:rPr sz="1200" kern="0" spc="-17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，工程</a:t>
            </a:r>
            <a:r>
              <a:rPr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代码、地图与航线资产、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" algn="l" rtl="0" eaLnBrk="0">
              <a:lnSpc>
                <a:spcPts val="2380"/>
              </a:lnSpc>
            </a:pPr>
            <a:r>
              <a:rPr sz="1200" kern="0" spc="7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以及与结论对应的核验脚本随包提交</a:t>
            </a:r>
            <a:r>
              <a:rPr sz="1200" kern="0" spc="-17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7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，欢</a:t>
            </a:r>
            <a:r>
              <a:rPr sz="1200" kern="0" spc="6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迎按图索骥复核。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path 416"/>
          <p:cNvSpPr/>
          <p:nvPr/>
        </p:nvSpPr>
        <p:spPr>
          <a:xfrm>
            <a:off x="533400" y="5399785"/>
            <a:ext cx="5029200" cy="9144"/>
          </a:xfrm>
          <a:custGeom>
            <a:avLst/>
            <a:gdLst/>
            <a:ahLst/>
            <a:cxnLst/>
            <a:rect l="0" t="0" r="0" b="0"/>
            <a:pathLst>
              <a:path w="7920" h="14">
                <a:moveTo>
                  <a:pt x="0" y="0"/>
                </a:moveTo>
                <a:lnTo>
                  <a:pt x="7920" y="0"/>
                </a:lnTo>
                <a:lnTo>
                  <a:pt x="7920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2E5EA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8" name="path 418"/>
          <p:cNvSpPr/>
          <p:nvPr/>
        </p:nvSpPr>
        <p:spPr>
          <a:xfrm>
            <a:off x="533400" y="3543300"/>
            <a:ext cx="876300" cy="47244"/>
          </a:xfrm>
          <a:custGeom>
            <a:avLst/>
            <a:gdLst/>
            <a:ahLst/>
            <a:cxnLst/>
            <a:rect l="0" t="0" r="0" b="0"/>
            <a:pathLst>
              <a:path w="1380" h="74">
                <a:moveTo>
                  <a:pt x="0" y="0"/>
                </a:moveTo>
                <a:lnTo>
                  <a:pt x="1380" y="0"/>
                </a:lnTo>
                <a:lnTo>
                  <a:pt x="1380" y="74"/>
                </a:lnTo>
                <a:lnTo>
                  <a:pt x="0" y="74"/>
                </a:lnTo>
                <a:lnTo>
                  <a:pt x="0" y="0"/>
                </a:lnTo>
                <a:close/>
              </a:path>
            </a:pathLst>
          </a:custGeom>
          <a:solidFill>
            <a:srgbClr val="FFC10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5488940"/>
            <a:ext cx="6096000" cy="1071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700" algn="l" rtl="0" eaLnBrk="0">
              <a:lnSpc>
                <a:spcPct val="118000"/>
              </a:lnSpc>
            </a:pPr>
            <a:r>
              <a:rPr sz="14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参赛队伍：【</a:t>
            </a:r>
            <a:r>
              <a:rPr lang="en-US" sz="14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close_ai</a:t>
            </a:r>
            <a:r>
              <a:rPr sz="14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8000"/>
              </a:lnSpc>
              <a:spcBef>
                <a:spcPts val="5"/>
              </a:spcBef>
            </a:pPr>
            <a:r>
              <a:rPr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参赛队员：</a:t>
            </a:r>
            <a:r>
              <a:rPr lang="zh-CN"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戈一舟、</a:t>
            </a:r>
            <a:r>
              <a:rPr lang="zh-CN" altLang="en-US"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马天瑞、刘政润</a:t>
            </a:r>
            <a:r>
              <a:rPr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endParaRPr sz="1200" kern="0" spc="40" dirty="0">
              <a:solidFill>
                <a:srgbClr val="9FBEE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700" algn="l" rtl="0" eaLnBrk="0">
              <a:lnSpc>
                <a:spcPct val="118000"/>
              </a:lnSpc>
              <a:spcBef>
                <a:spcPts val="5"/>
              </a:spcBef>
            </a:pPr>
            <a:r>
              <a:rPr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指导教师：</a:t>
            </a:r>
            <a:r>
              <a:rPr lang="zh-CN"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丁尧、</a:t>
            </a:r>
            <a:r>
              <a:rPr lang="zh-CN" altLang="en-US" sz="1200" kern="0" spc="4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吕尚可</a:t>
            </a:r>
            <a:r>
              <a:rPr sz="1200" kern="0" spc="1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</a:t>
            </a:r>
            <a:r>
              <a:rPr sz="1200" kern="0" dirty="0">
                <a:solidFill>
                  <a:srgbClr val="9FBE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</a:t>
            </a:r>
            <a:endParaRPr sz="1200" kern="0" dirty="0">
              <a:solidFill>
                <a:srgbClr val="9FBEE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700" algn="l" rtl="0" eaLnBrk="0">
              <a:lnSpc>
                <a:spcPct val="118000"/>
              </a:lnSpc>
              <a:spcBef>
                <a:spcPts val="5"/>
              </a:spcBef>
            </a:pPr>
            <a:r>
              <a:rPr sz="1200" kern="0" spc="40" dirty="0">
                <a:solidFill>
                  <a:srgbClr val="7FA6D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en-US" sz="1200" kern="0" spc="40" dirty="0">
                <a:solidFill>
                  <a:srgbClr val="7FA6D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.10</a:t>
            </a:r>
            <a:endParaRPr lang="en-US" altLang="en-US" sz="1200" kern="0" spc="40" dirty="0">
              <a:solidFill>
                <a:srgbClr val="7FA6D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427085" y="331470"/>
            <a:ext cx="3542030" cy="923290"/>
            <a:chOff x="13160" y="522"/>
            <a:chExt cx="5578" cy="145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圆角矩形 10"/>
            <p:cNvSpPr/>
            <p:nvPr/>
          </p:nvSpPr>
          <p:spPr>
            <a:xfrm>
              <a:off x="13160" y="522"/>
              <a:ext cx="5578" cy="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37" y="713"/>
              <a:ext cx="4990" cy="1080"/>
            </a:xfrm>
            <a:prstGeom prst="rect">
              <a:avLst/>
            </a:prstGeom>
          </p:spPr>
        </p:pic>
      </p:grpSp>
      <p:pic>
        <p:nvPicPr>
          <p:cNvPr id="12" name="图片 11" descr="exec-381cfff6-43d3-4ea5-8a4d-94c4d01d583f"/>
          <p:cNvPicPr>
            <a:picLocks noChangeAspect="1"/>
          </p:cNvPicPr>
          <p:nvPr/>
        </p:nvPicPr>
        <p:blipFill>
          <a:blip r:embed="rId3"/>
          <a:srcRect r="45625"/>
          <a:stretch>
            <a:fillRect/>
          </a:stretch>
        </p:blipFill>
        <p:spPr>
          <a:xfrm flipH="1">
            <a:off x="6097270" y="0"/>
            <a:ext cx="662559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8"/>
</p:tagLst>
</file>

<file path=ppt/tags/tag2.xml><?xml version="1.0" encoding="utf-8"?>
<p:tagLst xmlns:p="http://schemas.openxmlformats.org/presentationml/2006/main">
  <p:tag name="PA" val="v5.2.8"/>
</p:tagLst>
</file>

<file path=ppt/tags/tag3.xml><?xml version="1.0" encoding="utf-8"?>
<p:tagLst xmlns:p="http://schemas.openxmlformats.org/presentationml/2006/main">
  <p:tag name="PA" val="v5.2.8"/>
</p:tagLst>
</file>

<file path=ppt/tags/tag4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5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6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7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8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9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10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11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12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13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14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15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16.xml><?xml version="1.0" encoding="utf-8"?>
<p:tagLst xmlns:p="http://schemas.openxmlformats.org/presentationml/2006/main">
  <p:tag name="KSO_WM_DIAGRAM_VIRTUALLY_FRAME" val="{&quot;height&quot;:117.05,&quot;left&quot;:37.55,&quot;top&quot;:357.7,&quot;width&quot;:866.9}"/>
</p:tagLst>
</file>

<file path=ppt/tags/tag17.xml><?xml version="1.0" encoding="utf-8"?>
<p:tagLst xmlns:p="http://schemas.openxmlformats.org/presentationml/2006/main">
  <p:tag name="PA" val="v5.2.8"/>
</p:tagLst>
</file>

<file path=ppt/tags/tag18.xml><?xml version="1.0" encoding="utf-8"?>
<p:tagLst xmlns:p="http://schemas.openxmlformats.org/presentationml/2006/main">
  <p:tag name="PA" val="v5.2.8"/>
</p:tagLst>
</file>

<file path=ppt/tags/tag19.xml><?xml version="1.0" encoding="utf-8"?>
<p:tagLst xmlns:p="http://schemas.openxmlformats.org/presentationml/2006/main">
  <p:tag name="PA" val="v5.2.8"/>
</p:tagLst>
</file>

<file path=ppt/tags/tag20.xml><?xml version="1.0" encoding="utf-8"?>
<p:tagLst xmlns:p="http://schemas.openxmlformats.org/presentationml/2006/main">
  <p:tag name="PA" val="v5.2.8"/>
</p:tagLst>
</file>

<file path=ppt/tags/tag21.xml><?xml version="1.0" encoding="utf-8"?>
<p:tagLst xmlns:p="http://schemas.openxmlformats.org/presentationml/2006/main">
  <p:tag name="TABLE_ENDDRAG_ORIGIN_RECT" val="440*188"/>
  <p:tag name="TABLE_ENDDRAG_RECT" val="32*68*440*188"/>
</p:tagLst>
</file>

<file path=ppt/tags/tag22.xml><?xml version="1.0" encoding="utf-8"?>
<p:tagLst xmlns:p="http://schemas.openxmlformats.org/presentationml/2006/main">
  <p:tag name="TABLE_ENDDRAG_ORIGIN_RECT" val="435*188"/>
  <p:tag name="TABLE_ENDDRAG_RECT" val="487*68*435*188"/>
</p:tagLst>
</file>

<file path=ppt/tags/tag23.xml><?xml version="1.0" encoding="utf-8"?>
<p:tagLst xmlns:p="http://schemas.openxmlformats.org/presentationml/2006/main">
  <p:tag name="PA" val="v5.2.8"/>
</p:tagLst>
</file>

<file path=ppt/tags/tag24.xml><?xml version="1.0" encoding="utf-8"?>
<p:tagLst xmlns:p="http://schemas.openxmlformats.org/presentationml/2006/main">
  <p:tag name="TABLE_ENDDRAG_ORIGIN_RECT" val="370*90"/>
  <p:tag name="TABLE_ENDDRAG_RECT" val="498*501*370*90"/>
</p:tagLst>
</file>

<file path=ppt/tags/tag25.xml><?xml version="1.0" encoding="utf-8"?>
<p:tagLst xmlns:p="http://schemas.openxmlformats.org/presentationml/2006/main">
  <p:tag name="TABLE_ENDDRAG_ORIGIN_RECT" val="290*193"/>
  <p:tag name="TABLE_ENDDRAG_RECT" val="49*166*290*193"/>
</p:tagLst>
</file>

<file path=ppt/tags/tag26.xml><?xml version="1.0" encoding="utf-8"?>
<p:tagLst xmlns:p="http://schemas.openxmlformats.org/presentationml/2006/main">
  <p:tag name="PA" val="v5.2.8"/>
</p:tagLst>
</file>

<file path=ppt/tags/tag27.xml><?xml version="1.0" encoding="utf-8"?>
<p:tagLst xmlns:p="http://schemas.openxmlformats.org/presentationml/2006/main">
  <p:tag name="PA" val="v5.2.8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8212</Words>
  <Application>WPS 演示</Application>
  <PresentationFormat>宽屏</PresentationFormat>
  <Paragraphs>512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黑体</vt:lpstr>
      <vt:lpstr>Arial</vt:lpstr>
      <vt:lpstr>微软雅黑</vt:lpstr>
      <vt:lpstr>HarmonyOS Sans TC</vt:lpstr>
      <vt:lpstr>HarmonyOS Sans SC</vt:lpstr>
      <vt:lpstr>Roboto Bold</vt:lpstr>
      <vt:lpstr>AMGDT</vt:lpstr>
      <vt:lpstr>思源黑体 CN Regular</vt:lpstr>
      <vt:lpstr>OPPOSans B</vt:lpstr>
      <vt:lpstr>Arial Unicode MS</vt:lpstr>
      <vt:lpstr>Calibri</vt:lpstr>
      <vt:lpstr>HarmonyOS Sans SC</vt:lpstr>
      <vt:lpstr>HarmonyOS Sans TC</vt:lpstr>
      <vt:lpstr>Saturday Sans Regular</vt:lpstr>
      <vt:lpstr>The best part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</cp:lastModifiedBy>
  <cp:revision>17</cp:revision>
  <dcterms:created xsi:type="dcterms:W3CDTF">2026-10-13T14:01:00Z</dcterms:created>
  <dcterms:modified xsi:type="dcterms:W3CDTF">2026-10-14T11:27:21Z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2026-10-15T14:14:47Z</vt:filetime>
  </property>
  <property fmtid="{D5CDD505-2E9C-101B-9397-08002B2CF9AE}" pid="4" name="KSOProductBuildVer">
    <vt:lpwstr>2052-12.1.0.28505</vt:lpwstr>
  </property>
  <property fmtid="{D5CDD505-2E9C-101B-9397-08002B2CF9AE}" pid="5" name="ICV">
    <vt:lpwstr>D04C013B41394553A138C8102FA834C9_12</vt:lpwstr>
  </property>
</Properties>
</file>